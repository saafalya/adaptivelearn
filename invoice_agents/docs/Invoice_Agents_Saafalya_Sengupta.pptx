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b1ee664-faa8-f1b8-800e-d96aa19b3cf8}">
          <p14:sldIdLst>
            <p14:sldId id="256"/>
            <p14:sldId id="257"/>
            <p14:sldId id="258"/>
          </p14:sldIdLst>
        </p14:section>
        <p14:section name="Solution" id="{a269f71e-d06b-5dee-2829-d659a0a89cd2}">
          <p14:sldIdLst>
            <p14:sldId id="259"/>
            <p14:sldId id="260"/>
            <p14:sldId id="261"/>
            <p14:sldId id="262"/>
          </p14:sldIdLst>
        </p14:section>
        <p14:section name="Results" id="{3333d28d-6c23-b1c9-6baf-ccf6ab30f4cb}">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One line on the project: agents that check vendor invoices against purchase orders and goods receipts before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three-way match in plain words: ordered, received, billed. Errors like these cause overpayments and duplicate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manual process with the agent workflow. Stress that humans still review flagged invoices.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list. Each agent has one responsibility; the Critic appears twice in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retry loop is the key agentic behaviour: the Critic rejects bad extractions and the Extraction Agent tries again. If it still fails, the invoice is escalated.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UI, orchestration, agents, then the tools and data and the LLM they call. Decision-making is rule-based in tools.decide, with the LLM only writing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app here. Point out the Critic rejecting the first extraction and the retry fixing it. Add app screenshots to this slide if you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answer key is known because the data is synthetic, and the matching rules are deterministic, so these numbers show the pipeline works rather than how it would score on messy real invoices.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it shows judgement. Future scope: the biggest step is real invoices via OCR plus an LLM extractor.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512064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5120640" cy="1463040"/>
          </a:xfrm>
          <a:prstGeom prst="rect">
            <a:avLst/>
          </a:prstGeom>
          <a:noFill/>
          <a:ln/>
        </p:spPr>
        <p:txBody>
          <a:bodyPr wrap="square" lIns="0" tIns="0" rIns="0" bIns="0" rtlCol="0" anchor="t"/>
          <a:lstStyle/>
          <a:p>
            <a:pPr algn="l" indent="0" marL="0">
              <a:buNone/>
            </a:pPr>
            <a:r>
              <a:rPr lang="en-US" sz="3800" b="1" dirty="0">
                <a:solidFill>
                  <a:schemeClr val="bg1"/>
                </a:solidFill>
              </a:rPr>
              <a:t>Agentic AI for Accounts Payable</a:t>
            </a:r>
            <a:endParaRPr lang="en-US" sz="3800" dirty="0"/>
          </a:p>
        </p:txBody>
      </p:sp>
      <p:sp>
        <p:nvSpPr>
          <p:cNvPr id="3" name="Text 1"/>
          <p:cNvSpPr txBox="1"/>
          <p:nvPr/>
        </p:nvSpPr>
        <p:spPr>
          <a:xfrm>
            <a:off x="548640" y="2331720"/>
            <a:ext cx="4937760" cy="731520"/>
          </a:xfrm>
          <a:prstGeom prst="rect">
            <a:avLst/>
          </a:prstGeom>
          <a:noFill/>
          <a:ln/>
        </p:spPr>
        <p:txBody>
          <a:bodyPr wrap="square" lIns="0" tIns="0" rIns="0" bIns="0" rtlCol="0" anchor="t"/>
          <a:lstStyle/>
          <a:p>
            <a:pPr indent="0" marL="0">
              <a:buNone/>
            </a:pPr>
            <a:r>
              <a:rPr lang="en-US" sz="1800" dirty="0">
                <a:solidFill>
                  <a:schemeClr val="accent6"/>
                </a:solidFill>
              </a:rPr>
              <a:t>Invoice three-way match with a team of cooperating agents</a:t>
            </a:r>
            <a:endParaRPr lang="en-US" sz="1800" dirty="0"/>
          </a:p>
        </p:txBody>
      </p:sp>
      <p:sp>
        <p:nvSpPr>
          <p:cNvPr id="4" name="Text 2"/>
          <p:cNvSpPr txBox="1"/>
          <p:nvPr/>
        </p:nvSpPr>
        <p:spPr>
          <a:xfrm>
            <a:off x="548640" y="3566160"/>
            <a:ext cx="4937760" cy="365760"/>
          </a:xfrm>
          <a:prstGeom prst="rect">
            <a:avLst/>
          </a:prstGeom>
          <a:noFill/>
          <a:ln/>
        </p:spPr>
        <p:txBody>
          <a:bodyPr wrap="square" lIns="0" tIns="0" rIns="0" bIns="0" rtlCol="0" anchor="t"/>
          <a:lstStyle/>
          <a:p>
            <a:pPr indent="0" marL="0">
              <a:buNone/>
            </a:pPr>
            <a:r>
              <a:rPr lang="en-US" sz="1800" b="1" dirty="0">
                <a:solidFill>
                  <a:schemeClr val="bg1"/>
                </a:solidFill>
              </a:rPr>
              <a:t>Swastik Gavhane &amp; Saafalya Sengupta</a:t>
            </a:r>
            <a:endParaRPr lang="en-US" sz="2000" dirty="0"/>
          </a:p>
        </p:txBody>
      </p:sp>
      <p:sp>
        <p:nvSpPr>
          <p:cNvPr id="5" name="Text 3"/>
          <p:cNvSpPr txBox="1"/>
          <p:nvPr/>
        </p:nvSpPr>
        <p:spPr>
          <a:xfrm>
            <a:off x="548640" y="3931920"/>
            <a:ext cx="4937760" cy="274320"/>
          </a:xfrm>
          <a:prstGeom prst="rect">
            <a:avLst/>
          </a:prstGeom>
          <a:noFill/>
          <a:ln/>
        </p:spPr>
        <p:txBody>
          <a:bodyPr wrap="square" lIns="0" tIns="0" rIns="0" bIns="0" rtlCol="0" anchor="t"/>
          <a:lstStyle/>
          <a:p>
            <a:pPr indent="0" marL="0">
              <a:buNone/>
            </a:pPr>
            <a:r>
              <a:rPr lang="en-US" sz="1400" dirty="0">
                <a:solidFill>
                  <a:schemeClr val="bg1"/>
                </a:solidFill>
              </a:rPr>
              <a:t>PRN 24070126224 · 24070126158</a:t>
            </a:r>
            <a:endParaRPr lang="en-US" sz="1400" dirty="0"/>
          </a:p>
        </p:txBody>
      </p:sp>
      <p:sp>
        <p:nvSpPr>
          <p:cNvPr id="6" name="Text 4"/>
          <p:cNvSpPr txBox="1"/>
          <p:nvPr/>
        </p:nvSpPr>
        <p:spPr>
          <a:xfrm>
            <a:off x="548640" y="4224528"/>
            <a:ext cx="4937760" cy="274320"/>
          </a:xfrm>
          <a:prstGeom prst="rect">
            <a:avLst/>
          </a:prstGeom>
          <a:noFill/>
          <a:ln/>
        </p:spPr>
        <p:txBody>
          <a:bodyPr wrap="square" lIns="0" tIns="0" rIns="0" bIns="0" rtlCol="0" anchor="t"/>
          <a:lstStyle/>
          <a:p>
            <a:pPr indent="0" marL="0">
              <a:buNone/>
            </a:pPr>
            <a:r>
              <a:rPr lang="en-US" sz="1400" dirty="0">
                <a:solidFill>
                  <a:schemeClr val="accent6"/>
                </a:solidFill>
              </a:rPr>
              <a:t>Symbiosis Institute of Technology</a:t>
            </a:r>
            <a:endParaRPr lang="en-US" sz="1400" dirty="0"/>
          </a:p>
        </p:txBody>
      </p:sp>
      <p:sp>
        <p:nvSpPr>
          <p:cNvPr id="7" name="doc card"/>
          <p:cNvSpPr/>
          <p:nvPr/>
        </p:nvSpPr>
        <p:spPr>
          <a:xfrm>
            <a:off x="6035040" y="822960"/>
            <a:ext cx="2651760" cy="960120"/>
          </a:xfrm>
          <a:prstGeom prst="roundRect">
            <a:avLst>
              <a:gd name="adj" fmla="val 7619"/>
            </a:avLst>
          </a:prstGeom>
          <a:solidFill>
            <a:schemeClr val="accent1"/>
          </a:solidFill>
          <a:ln/>
        </p:spPr>
      </p:sp>
      <p:sp>
        <p:nvSpPr>
          <p:cNvPr id="8" name="icon badge"/>
          <p:cNvSpPr/>
          <p:nvPr/>
        </p:nvSpPr>
        <p:spPr>
          <a:xfrm>
            <a:off x="6217920" y="1097280"/>
            <a:ext cx="411480" cy="411480"/>
          </a:xfrm>
          <a:prstGeom prst="ellipse">
            <a:avLst/>
          </a:prstGeom>
          <a:solidFill>
            <a:schemeClr val="accent2"/>
          </a:solidFill>
          <a:ln/>
        </p:spPr>
      </p:sp>
      <p:pic>
        <p:nvPicPr>
          <p:cNvPr id="9" name="Image 0" descr="PURCHASE ORDER">    </p:cNvPr>
          <p:cNvPicPr>
            <a:picLocks noChangeAspect="1"/>
          </p:cNvPicPr>
          <p:nvPr/>
        </p:nvPicPr>
        <p:blipFill>
          <a:blip r:embed="rId1"/>
          <a:stretch>
            <a:fillRect/>
          </a:stretch>
        </p:blipFill>
        <p:spPr>
          <a:xfrm>
            <a:off x="6309360" y="1188720"/>
            <a:ext cx="228600" cy="228600"/>
          </a:xfrm>
          <a:prstGeom prst="rect">
            <a:avLst/>
          </a:prstGeom>
        </p:spPr>
      </p:pic>
      <p:sp>
        <p:nvSpPr>
          <p:cNvPr id="10" name="Text 7"/>
          <p:cNvSpPr txBox="1"/>
          <p:nvPr/>
        </p:nvSpPr>
        <p:spPr>
          <a:xfrm>
            <a:off x="6812280" y="1051560"/>
            <a:ext cx="1783080" cy="274320"/>
          </a:xfrm>
          <a:prstGeom prst="rect">
            <a:avLst/>
          </a:prstGeom>
          <a:noFill/>
          <a:ln/>
        </p:spPr>
        <p:txBody>
          <a:bodyPr wrap="square" lIns="0" tIns="0" rIns="0" bIns="0" rtlCol="0" anchor="t"/>
          <a:lstStyle/>
          <a:p>
            <a:pPr indent="0" marL="0">
              <a:buNone/>
            </a:pPr>
            <a:r>
              <a:rPr lang="en-US" sz="1400" b="1" dirty="0">
                <a:solidFill>
                  <a:schemeClr val="bg1"/>
                </a:solidFill>
              </a:rPr>
              <a:t>PURCHASE ORDER</a:t>
            </a:r>
            <a:endParaRPr lang="en-US" sz="1400" dirty="0"/>
          </a:p>
        </p:txBody>
      </p:sp>
      <p:sp>
        <p:nvSpPr>
          <p:cNvPr id="11" name="Text 8"/>
          <p:cNvSpPr txBox="1"/>
          <p:nvPr/>
        </p:nvSpPr>
        <p:spPr>
          <a:xfrm>
            <a:off x="6812280" y="1353312"/>
            <a:ext cx="1783080" cy="274320"/>
          </a:xfrm>
          <a:prstGeom prst="rect">
            <a:avLst/>
          </a:prstGeom>
          <a:noFill/>
          <a:ln/>
        </p:spPr>
        <p:txBody>
          <a:bodyPr wrap="square" lIns="0" tIns="0" rIns="0" bIns="0" rtlCol="0" anchor="t"/>
          <a:lstStyle/>
          <a:p>
            <a:pPr indent="0" marL="0">
              <a:buNone/>
            </a:pPr>
            <a:r>
              <a:rPr lang="en-US" sz="1200" dirty="0">
                <a:solidFill>
                  <a:schemeClr val="accent6"/>
                </a:solidFill>
              </a:rPr>
              <a:t>what we ordered</a:t>
            </a:r>
            <a:endParaRPr lang="en-US" sz="1200" dirty="0"/>
          </a:p>
        </p:txBody>
      </p:sp>
      <p:sp>
        <p:nvSpPr>
          <p:cNvPr id="12" name="doc card"/>
          <p:cNvSpPr/>
          <p:nvPr/>
        </p:nvSpPr>
        <p:spPr>
          <a:xfrm>
            <a:off x="6035040" y="2011680"/>
            <a:ext cx="2651760" cy="960120"/>
          </a:xfrm>
          <a:prstGeom prst="roundRect">
            <a:avLst>
              <a:gd name="adj" fmla="val 7619"/>
            </a:avLst>
          </a:prstGeom>
          <a:solidFill>
            <a:schemeClr val="accent1"/>
          </a:solidFill>
          <a:ln/>
        </p:spPr>
      </p:sp>
      <p:sp>
        <p:nvSpPr>
          <p:cNvPr id="13" name="icon badge"/>
          <p:cNvSpPr/>
          <p:nvPr/>
        </p:nvSpPr>
        <p:spPr>
          <a:xfrm>
            <a:off x="6217920" y="2286000"/>
            <a:ext cx="411480" cy="411480"/>
          </a:xfrm>
          <a:prstGeom prst="ellipse">
            <a:avLst/>
          </a:prstGeom>
          <a:solidFill>
            <a:schemeClr val="accent2"/>
          </a:solidFill>
          <a:ln/>
        </p:spPr>
      </p:sp>
      <p:pic>
        <p:nvPicPr>
          <p:cNvPr id="14" name="Image 1" descr="GOODS RECEIPT">    </p:cNvPr>
          <p:cNvPicPr>
            <a:picLocks noChangeAspect="1"/>
          </p:cNvPicPr>
          <p:nvPr/>
        </p:nvPicPr>
        <p:blipFill>
          <a:blip r:embed="rId2"/>
          <a:stretch>
            <a:fillRect/>
          </a:stretch>
        </p:blipFill>
        <p:spPr>
          <a:xfrm>
            <a:off x="6309360" y="2377440"/>
            <a:ext cx="228600" cy="228600"/>
          </a:xfrm>
          <a:prstGeom prst="rect">
            <a:avLst/>
          </a:prstGeom>
        </p:spPr>
      </p:pic>
      <p:sp>
        <p:nvSpPr>
          <p:cNvPr id="15" name="Text 11"/>
          <p:cNvSpPr txBox="1"/>
          <p:nvPr/>
        </p:nvSpPr>
        <p:spPr>
          <a:xfrm>
            <a:off x="6812280" y="2240280"/>
            <a:ext cx="1783080" cy="274320"/>
          </a:xfrm>
          <a:prstGeom prst="rect">
            <a:avLst/>
          </a:prstGeom>
          <a:noFill/>
          <a:ln/>
        </p:spPr>
        <p:txBody>
          <a:bodyPr wrap="square" lIns="0" tIns="0" rIns="0" bIns="0" rtlCol="0" anchor="t"/>
          <a:lstStyle/>
          <a:p>
            <a:pPr indent="0" marL="0">
              <a:buNone/>
            </a:pPr>
            <a:r>
              <a:rPr lang="en-US" sz="1400" b="1" dirty="0">
                <a:solidFill>
                  <a:schemeClr val="bg1"/>
                </a:solidFill>
              </a:rPr>
              <a:t>GOODS RECEIPT</a:t>
            </a:r>
            <a:endParaRPr lang="en-US" sz="1400" dirty="0"/>
          </a:p>
        </p:txBody>
      </p:sp>
      <p:sp>
        <p:nvSpPr>
          <p:cNvPr id="16" name="Text 12"/>
          <p:cNvSpPr txBox="1"/>
          <p:nvPr/>
        </p:nvSpPr>
        <p:spPr>
          <a:xfrm>
            <a:off x="6812280" y="2542032"/>
            <a:ext cx="1783080" cy="274320"/>
          </a:xfrm>
          <a:prstGeom prst="rect">
            <a:avLst/>
          </a:prstGeom>
          <a:noFill/>
          <a:ln/>
        </p:spPr>
        <p:txBody>
          <a:bodyPr wrap="square" lIns="0" tIns="0" rIns="0" bIns="0" rtlCol="0" anchor="t"/>
          <a:lstStyle/>
          <a:p>
            <a:pPr indent="0" marL="0">
              <a:buNone/>
            </a:pPr>
            <a:r>
              <a:rPr lang="en-US" sz="1200" dirty="0">
                <a:solidFill>
                  <a:schemeClr val="accent6"/>
                </a:solidFill>
              </a:rPr>
              <a:t>what arrived</a:t>
            </a:r>
            <a:endParaRPr lang="en-US" sz="1200" dirty="0"/>
          </a:p>
        </p:txBody>
      </p:sp>
      <p:sp>
        <p:nvSpPr>
          <p:cNvPr id="17" name="doc card"/>
          <p:cNvSpPr/>
          <p:nvPr/>
        </p:nvSpPr>
        <p:spPr>
          <a:xfrm>
            <a:off x="6035040" y="3200400"/>
            <a:ext cx="2651760" cy="960120"/>
          </a:xfrm>
          <a:prstGeom prst="roundRect">
            <a:avLst>
              <a:gd name="adj" fmla="val 7619"/>
            </a:avLst>
          </a:prstGeom>
          <a:solidFill>
            <a:schemeClr val="accent1"/>
          </a:solidFill>
          <a:ln/>
        </p:spPr>
      </p:sp>
      <p:sp>
        <p:nvSpPr>
          <p:cNvPr id="18" name="icon badge"/>
          <p:cNvSpPr/>
          <p:nvPr/>
        </p:nvSpPr>
        <p:spPr>
          <a:xfrm>
            <a:off x="6217920" y="3474720"/>
            <a:ext cx="411480" cy="411480"/>
          </a:xfrm>
          <a:prstGeom prst="ellipse">
            <a:avLst/>
          </a:prstGeom>
          <a:solidFill>
            <a:schemeClr val="accent2"/>
          </a:solidFill>
          <a:ln/>
        </p:spPr>
      </p:sp>
      <p:pic>
        <p:nvPicPr>
          <p:cNvPr id="19" name="Image 2" descr="INVOICE">    </p:cNvPr>
          <p:cNvPicPr>
            <a:picLocks noChangeAspect="1"/>
          </p:cNvPicPr>
          <p:nvPr/>
        </p:nvPicPr>
        <p:blipFill>
          <a:blip r:embed="rId3"/>
          <a:stretch>
            <a:fillRect/>
          </a:stretch>
        </p:blipFill>
        <p:spPr>
          <a:xfrm>
            <a:off x="6309360" y="3566160"/>
            <a:ext cx="228600" cy="228600"/>
          </a:xfrm>
          <a:prstGeom prst="rect">
            <a:avLst/>
          </a:prstGeom>
        </p:spPr>
      </p:pic>
      <p:sp>
        <p:nvSpPr>
          <p:cNvPr id="20" name="Text 15"/>
          <p:cNvSpPr txBox="1"/>
          <p:nvPr/>
        </p:nvSpPr>
        <p:spPr>
          <a:xfrm>
            <a:off x="6812280" y="3429000"/>
            <a:ext cx="1783080" cy="274320"/>
          </a:xfrm>
          <a:prstGeom prst="rect">
            <a:avLst/>
          </a:prstGeom>
          <a:noFill/>
          <a:ln/>
        </p:spPr>
        <p:txBody>
          <a:bodyPr wrap="square" lIns="0" tIns="0" rIns="0" bIns="0" rtlCol="0" anchor="t"/>
          <a:lstStyle/>
          <a:p>
            <a:pPr indent="0" marL="0">
              <a:buNone/>
            </a:pPr>
            <a:r>
              <a:rPr lang="en-US" sz="1400" b="1" dirty="0">
                <a:solidFill>
                  <a:schemeClr val="bg1"/>
                </a:solidFill>
              </a:rPr>
              <a:t>INVOICE</a:t>
            </a:r>
            <a:endParaRPr lang="en-US" sz="1400" dirty="0"/>
          </a:p>
        </p:txBody>
      </p:sp>
      <p:sp>
        <p:nvSpPr>
          <p:cNvPr id="21" name="Text 16"/>
          <p:cNvSpPr txBox="1"/>
          <p:nvPr/>
        </p:nvSpPr>
        <p:spPr>
          <a:xfrm>
            <a:off x="6812280" y="3730752"/>
            <a:ext cx="1783080" cy="274320"/>
          </a:xfrm>
          <a:prstGeom prst="rect">
            <a:avLst/>
          </a:prstGeom>
          <a:noFill/>
          <a:ln/>
        </p:spPr>
        <p:txBody>
          <a:bodyPr wrap="square" lIns="0" tIns="0" rIns="0" bIns="0" rtlCol="0" anchor="t"/>
          <a:lstStyle/>
          <a:p>
            <a:pPr indent="0" marL="0">
              <a:buNone/>
            </a:pPr>
            <a:r>
              <a:rPr lang="en-US" sz="1200" dirty="0">
                <a:solidFill>
                  <a:schemeClr val="accent6"/>
                </a:solidFill>
              </a:rPr>
              <a:t>what we are billed</a:t>
            </a:r>
            <a:endParaRPr lang="en-US" sz="1200" dirty="0"/>
          </a:p>
        </p:txBody>
      </p:sp>
      <p:sp>
        <p:nvSpPr>
          <p:cNvPr id="22" name="Text 17"/>
          <p:cNvSpPr txBox="1"/>
          <p:nvPr/>
        </p:nvSpPr>
        <p:spPr>
          <a:xfrm>
            <a:off x="6035040" y="4343400"/>
            <a:ext cx="2651760" cy="274320"/>
          </a:xfrm>
          <a:prstGeom prst="rect">
            <a:avLst/>
          </a:prstGeom>
          <a:noFill/>
          <a:ln/>
        </p:spPr>
        <p:txBody>
          <a:bodyPr wrap="square" lIns="0" tIns="0" rIns="0" bIns="0" rtlCol="0" anchor="t"/>
          <a:lstStyle/>
          <a:p>
            <a:pPr algn="ctr" indent="0" marL="0">
              <a:buNone/>
            </a:pPr>
            <a:r>
              <a:rPr lang="en-US" sz="1200" i="1" dirty="0">
                <a:solidFill>
                  <a:schemeClr val="accent6"/>
                </a:solidFill>
              </a:rPr>
              <a:t>All three must agree before payment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Why invoices go wrong</a:t>
            </a:r>
            <a:endParaRPr lang="en-US" sz="3400" dirty="0"/>
          </a:p>
        </p:txBody>
      </p:sp>
      <p:sp>
        <p:nvSpPr>
          <p:cNvPr id="3" name="Text 1"/>
          <p:cNvSpPr txBox="1"/>
          <p:nvPr/>
        </p:nvSpPr>
        <p:spPr>
          <a:xfrm>
            <a:off x="457200" y="1280160"/>
            <a:ext cx="3383280" cy="2011680"/>
          </a:xfrm>
          <a:prstGeom prst="rect">
            <a:avLst/>
          </a:prstGeom>
          <a:noFill/>
          <a:ln/>
        </p:spPr>
        <p:txBody>
          <a:bodyPr wrap="square" lIns="0" tIns="0" rIns="0" bIns="0" rtlCol="0" anchor="t"/>
          <a:lstStyle/>
          <a:p>
            <a:pPr indent="0" marL="0">
              <a:buNone/>
            </a:pPr>
            <a:r>
              <a:rPr lang="en-US" sz="1600" dirty="0">
                <a:solidFill>
                  <a:schemeClr val="tx1"/>
                </a:solidFill>
              </a:rPr>
              <a:t>Before paying a vendor, finance teams must check the invoice against the purchase order and the goods receipt. Done by hand, it is slow, and every miss becomes an overpayment.</a:t>
            </a:r>
            <a:endParaRPr lang="en-US" sz="1600" dirty="0"/>
          </a:p>
        </p:txBody>
      </p:sp>
      <p:sp>
        <p:nvSpPr>
          <p:cNvPr id="4" name="domain tag"/>
          <p:cNvSpPr/>
          <p:nvPr/>
        </p:nvSpPr>
        <p:spPr>
          <a:xfrm>
            <a:off x="457200" y="3931920"/>
            <a:ext cx="3383280" cy="594360"/>
          </a:xfrm>
          <a:prstGeom prst="roundRect">
            <a:avLst>
              <a:gd name="adj" fmla="val 12308"/>
            </a:avLst>
          </a:prstGeom>
          <a:solidFill>
            <a:schemeClr val="bg2"/>
          </a:solidFill>
          <a:ln/>
        </p:spPr>
      </p:sp>
      <p:sp>
        <p:nvSpPr>
          <p:cNvPr id="5" name="Text 3"/>
          <p:cNvSpPr txBox="1"/>
          <p:nvPr/>
        </p:nvSpPr>
        <p:spPr>
          <a:xfrm>
            <a:off x="594360" y="4005072"/>
            <a:ext cx="3108960" cy="457200"/>
          </a:xfrm>
          <a:prstGeom prst="rect">
            <a:avLst/>
          </a:prstGeom>
          <a:noFill/>
          <a:ln/>
        </p:spPr>
        <p:txBody>
          <a:bodyPr wrap="square" lIns="0" tIns="0" rIns="0" bIns="0" rtlCol="0" anchor="ctr"/>
          <a:lstStyle/>
          <a:p>
            <a:pPr indent="0" marL="0">
              <a:buNone/>
            </a:pPr>
            <a:r>
              <a:rPr lang="en-US" sz="1300" b="1" dirty="0">
                <a:solidFill>
                  <a:schemeClr val="tx1"/>
                </a:solidFill>
              </a:rPr>
              <a:t>Domain: </a:t>
            </a:r>
            <a:pPr indent="0" marL="0">
              <a:buNone/>
            </a:pPr>
            <a:r>
              <a:rPr lang="en-US" sz="1300" dirty="0">
                <a:solidFill>
                  <a:schemeClr val="tx1"/>
                </a:solidFill>
              </a:rPr>
              <a:t>Banking &amp; Finance, Business Operations</a:t>
            </a:r>
            <a:endParaRPr lang="en-US" sz="1300" dirty="0"/>
          </a:p>
        </p:txBody>
      </p:sp>
      <p:sp>
        <p:nvSpPr>
          <p:cNvPr id="6" name="doc card"/>
          <p:cNvSpPr/>
          <p:nvPr/>
        </p:nvSpPr>
        <p:spPr>
          <a:xfrm>
            <a:off x="4206240" y="1280160"/>
            <a:ext cx="1371600" cy="1783080"/>
          </a:xfrm>
          <a:prstGeom prst="roundRect">
            <a:avLst>
              <a:gd name="adj" fmla="val 5333"/>
            </a:avLst>
          </a:prstGeom>
          <a:solidFill>
            <a:schemeClr val="bg2"/>
          </a:solidFill>
          <a:ln/>
        </p:spPr>
      </p:sp>
      <p:sp>
        <p:nvSpPr>
          <p:cNvPr id="7" name="badge"/>
          <p:cNvSpPr/>
          <p:nvPr/>
        </p:nvSpPr>
        <p:spPr>
          <a:xfrm>
            <a:off x="4617720" y="1463040"/>
            <a:ext cx="548640" cy="548640"/>
          </a:xfrm>
          <a:prstGeom prst="ellipse">
            <a:avLst/>
          </a:prstGeom>
          <a:solidFill>
            <a:schemeClr val="accent1"/>
          </a:solidFill>
          <a:ln/>
        </p:spPr>
      </p:sp>
      <p:pic>
        <p:nvPicPr>
          <p:cNvPr id="8" name="Image 0" descr="Purchase order">    </p:cNvPr>
          <p:cNvPicPr>
            <a:picLocks noChangeAspect="1"/>
          </p:cNvPicPr>
          <p:nvPr/>
        </p:nvPicPr>
        <p:blipFill>
          <a:blip r:embed="rId1"/>
          <a:stretch>
            <a:fillRect/>
          </a:stretch>
        </p:blipFill>
        <p:spPr>
          <a:xfrm>
            <a:off x="4754880" y="1600200"/>
            <a:ext cx="274320" cy="274320"/>
          </a:xfrm>
          <a:prstGeom prst="rect">
            <a:avLst/>
          </a:prstGeom>
        </p:spPr>
      </p:pic>
      <p:sp>
        <p:nvSpPr>
          <p:cNvPr id="9" name="Text 6"/>
          <p:cNvSpPr txBox="1"/>
          <p:nvPr/>
        </p:nvSpPr>
        <p:spPr>
          <a:xfrm>
            <a:off x="4297680" y="2148840"/>
            <a:ext cx="1188720" cy="274320"/>
          </a:xfrm>
          <a:prstGeom prst="rect">
            <a:avLst/>
          </a:prstGeom>
          <a:noFill/>
          <a:ln/>
        </p:spPr>
        <p:txBody>
          <a:bodyPr wrap="square" lIns="0" tIns="0" rIns="0" bIns="0" rtlCol="0" anchor="t"/>
          <a:lstStyle/>
          <a:p>
            <a:pPr algn="ctr" indent="0" marL="0">
              <a:buNone/>
            </a:pPr>
            <a:r>
              <a:rPr lang="en-US" sz="1400" b="1" dirty="0">
                <a:solidFill>
                  <a:schemeClr val="tx2"/>
                </a:solidFill>
              </a:rPr>
              <a:t>Purchase order</a:t>
            </a:r>
            <a:endParaRPr lang="en-US" sz="1400" dirty="0"/>
          </a:p>
        </p:txBody>
      </p:sp>
      <p:sp>
        <p:nvSpPr>
          <p:cNvPr id="10" name="Text 7"/>
          <p:cNvSpPr txBox="1"/>
          <p:nvPr/>
        </p:nvSpPr>
        <p:spPr>
          <a:xfrm>
            <a:off x="4297680" y="2468880"/>
            <a:ext cx="1188720" cy="502920"/>
          </a:xfrm>
          <a:prstGeom prst="rect">
            <a:avLst/>
          </a:prstGeom>
          <a:noFill/>
          <a:ln/>
        </p:spPr>
        <p:txBody>
          <a:bodyPr wrap="square" lIns="0" tIns="0" rIns="0" bIns="0" rtlCol="0" anchor="t"/>
          <a:lstStyle/>
          <a:p>
            <a:pPr algn="ctr" indent="0" marL="0">
              <a:buNone/>
            </a:pPr>
            <a:r>
              <a:rPr lang="en-US" sz="1200" dirty="0">
                <a:solidFill>
                  <a:schemeClr val="tx1"/>
                </a:solidFill>
              </a:rPr>
              <a:t>What we agreed to buy</a:t>
            </a:r>
            <a:endParaRPr lang="en-US" sz="1200" dirty="0"/>
          </a:p>
        </p:txBody>
      </p:sp>
      <p:sp>
        <p:nvSpPr>
          <p:cNvPr id="11" name="Text 8"/>
          <p:cNvSpPr txBox="1"/>
          <p:nvPr/>
        </p:nvSpPr>
        <p:spPr>
          <a:xfrm>
            <a:off x="5577840" y="1828800"/>
            <a:ext cx="228600" cy="365760"/>
          </a:xfrm>
          <a:prstGeom prst="rect">
            <a:avLst/>
          </a:prstGeom>
          <a:noFill/>
          <a:ln/>
        </p:spPr>
        <p:txBody>
          <a:bodyPr wrap="square" lIns="0" tIns="0" rIns="0" bIns="0" rtlCol="0" anchor="t"/>
          <a:lstStyle/>
          <a:p>
            <a:pPr algn="ctr" indent="0" marL="0">
              <a:buNone/>
            </a:pPr>
            <a:r>
              <a:rPr lang="en-US" sz="2000" b="1" dirty="0">
                <a:solidFill>
                  <a:schemeClr val="accent2"/>
                </a:solidFill>
              </a:rPr>
              <a:t>=</a:t>
            </a:r>
            <a:endParaRPr lang="en-US" sz="2000" dirty="0"/>
          </a:p>
        </p:txBody>
      </p:sp>
      <p:sp>
        <p:nvSpPr>
          <p:cNvPr id="12" name="doc card"/>
          <p:cNvSpPr/>
          <p:nvPr/>
        </p:nvSpPr>
        <p:spPr>
          <a:xfrm>
            <a:off x="5806440" y="1280160"/>
            <a:ext cx="1371600" cy="1783080"/>
          </a:xfrm>
          <a:prstGeom prst="roundRect">
            <a:avLst>
              <a:gd name="adj" fmla="val 5333"/>
            </a:avLst>
          </a:prstGeom>
          <a:solidFill>
            <a:schemeClr val="bg2"/>
          </a:solidFill>
          <a:ln/>
        </p:spPr>
      </p:sp>
      <p:sp>
        <p:nvSpPr>
          <p:cNvPr id="13" name="badge"/>
          <p:cNvSpPr/>
          <p:nvPr/>
        </p:nvSpPr>
        <p:spPr>
          <a:xfrm>
            <a:off x="6217920" y="1463040"/>
            <a:ext cx="548640" cy="548640"/>
          </a:xfrm>
          <a:prstGeom prst="ellipse">
            <a:avLst/>
          </a:prstGeom>
          <a:solidFill>
            <a:schemeClr val="accent1"/>
          </a:solidFill>
          <a:ln/>
        </p:spPr>
      </p:sp>
      <p:pic>
        <p:nvPicPr>
          <p:cNvPr id="14" name="Image 1" descr="Goods receipt">    </p:cNvPr>
          <p:cNvPicPr>
            <a:picLocks noChangeAspect="1"/>
          </p:cNvPicPr>
          <p:nvPr/>
        </p:nvPicPr>
        <p:blipFill>
          <a:blip r:embed="rId2"/>
          <a:stretch>
            <a:fillRect/>
          </a:stretch>
        </p:blipFill>
        <p:spPr>
          <a:xfrm>
            <a:off x="6355080" y="1600200"/>
            <a:ext cx="274320" cy="274320"/>
          </a:xfrm>
          <a:prstGeom prst="rect">
            <a:avLst/>
          </a:prstGeom>
        </p:spPr>
      </p:pic>
      <p:sp>
        <p:nvSpPr>
          <p:cNvPr id="15" name="Text 11"/>
          <p:cNvSpPr txBox="1"/>
          <p:nvPr/>
        </p:nvSpPr>
        <p:spPr>
          <a:xfrm>
            <a:off x="5897880" y="2148840"/>
            <a:ext cx="1188720" cy="274320"/>
          </a:xfrm>
          <a:prstGeom prst="rect">
            <a:avLst/>
          </a:prstGeom>
          <a:noFill/>
          <a:ln/>
        </p:spPr>
        <p:txBody>
          <a:bodyPr wrap="square" lIns="0" tIns="0" rIns="0" bIns="0" rtlCol="0" anchor="t"/>
          <a:lstStyle/>
          <a:p>
            <a:pPr algn="ctr" indent="0" marL="0">
              <a:buNone/>
            </a:pPr>
            <a:r>
              <a:rPr lang="en-US" sz="1400" b="1" dirty="0">
                <a:solidFill>
                  <a:schemeClr val="tx2"/>
                </a:solidFill>
              </a:rPr>
              <a:t>Goods receipt</a:t>
            </a:r>
            <a:endParaRPr lang="en-US" sz="1400" dirty="0"/>
          </a:p>
        </p:txBody>
      </p:sp>
      <p:sp>
        <p:nvSpPr>
          <p:cNvPr id="16" name="Text 12"/>
          <p:cNvSpPr txBox="1"/>
          <p:nvPr/>
        </p:nvSpPr>
        <p:spPr>
          <a:xfrm>
            <a:off x="5897880" y="2468880"/>
            <a:ext cx="1188720" cy="502920"/>
          </a:xfrm>
          <a:prstGeom prst="rect">
            <a:avLst/>
          </a:prstGeom>
          <a:noFill/>
          <a:ln/>
        </p:spPr>
        <p:txBody>
          <a:bodyPr wrap="square" lIns="0" tIns="0" rIns="0" bIns="0" rtlCol="0" anchor="t"/>
          <a:lstStyle/>
          <a:p>
            <a:pPr algn="ctr" indent="0" marL="0">
              <a:buNone/>
            </a:pPr>
            <a:r>
              <a:rPr lang="en-US" sz="1200" dirty="0">
                <a:solidFill>
                  <a:schemeClr val="tx1"/>
                </a:solidFill>
              </a:rPr>
              <a:t>What actually arrived</a:t>
            </a:r>
            <a:endParaRPr lang="en-US" sz="1200" dirty="0"/>
          </a:p>
        </p:txBody>
      </p:sp>
      <p:sp>
        <p:nvSpPr>
          <p:cNvPr id="17" name="Text 13"/>
          <p:cNvSpPr txBox="1"/>
          <p:nvPr/>
        </p:nvSpPr>
        <p:spPr>
          <a:xfrm>
            <a:off x="7178040" y="1828800"/>
            <a:ext cx="228600" cy="365760"/>
          </a:xfrm>
          <a:prstGeom prst="rect">
            <a:avLst/>
          </a:prstGeom>
          <a:noFill/>
          <a:ln/>
        </p:spPr>
        <p:txBody>
          <a:bodyPr wrap="square" lIns="0" tIns="0" rIns="0" bIns="0" rtlCol="0" anchor="t"/>
          <a:lstStyle/>
          <a:p>
            <a:pPr algn="ctr" indent="0" marL="0">
              <a:buNone/>
            </a:pPr>
            <a:r>
              <a:rPr lang="en-US" sz="2000" b="1" dirty="0">
                <a:solidFill>
                  <a:schemeClr val="accent2"/>
                </a:solidFill>
              </a:rPr>
              <a:t>=</a:t>
            </a:r>
            <a:endParaRPr lang="en-US" sz="2000" dirty="0"/>
          </a:p>
        </p:txBody>
      </p:sp>
      <p:sp>
        <p:nvSpPr>
          <p:cNvPr id="18" name="doc card"/>
          <p:cNvSpPr/>
          <p:nvPr/>
        </p:nvSpPr>
        <p:spPr>
          <a:xfrm>
            <a:off x="7406640" y="1280160"/>
            <a:ext cx="1371600" cy="1783080"/>
          </a:xfrm>
          <a:prstGeom prst="roundRect">
            <a:avLst>
              <a:gd name="adj" fmla="val 5333"/>
            </a:avLst>
          </a:prstGeom>
          <a:solidFill>
            <a:schemeClr val="bg2"/>
          </a:solidFill>
          <a:ln/>
        </p:spPr>
      </p:sp>
      <p:sp>
        <p:nvSpPr>
          <p:cNvPr id="19" name="badge"/>
          <p:cNvSpPr/>
          <p:nvPr/>
        </p:nvSpPr>
        <p:spPr>
          <a:xfrm>
            <a:off x="7818120" y="1463040"/>
            <a:ext cx="548640" cy="548640"/>
          </a:xfrm>
          <a:prstGeom prst="ellipse">
            <a:avLst/>
          </a:prstGeom>
          <a:solidFill>
            <a:schemeClr val="accent1"/>
          </a:solidFill>
          <a:ln/>
        </p:spPr>
      </p:sp>
      <p:pic>
        <p:nvPicPr>
          <p:cNvPr id="20" name="Image 2" descr="Invoice">    </p:cNvPr>
          <p:cNvPicPr>
            <a:picLocks noChangeAspect="1"/>
          </p:cNvPicPr>
          <p:nvPr/>
        </p:nvPicPr>
        <p:blipFill>
          <a:blip r:embed="rId3"/>
          <a:stretch>
            <a:fillRect/>
          </a:stretch>
        </p:blipFill>
        <p:spPr>
          <a:xfrm>
            <a:off x="7955280" y="1600200"/>
            <a:ext cx="274320" cy="274320"/>
          </a:xfrm>
          <a:prstGeom prst="rect">
            <a:avLst/>
          </a:prstGeom>
        </p:spPr>
      </p:pic>
      <p:sp>
        <p:nvSpPr>
          <p:cNvPr id="21" name="Text 16"/>
          <p:cNvSpPr txBox="1"/>
          <p:nvPr/>
        </p:nvSpPr>
        <p:spPr>
          <a:xfrm>
            <a:off x="7498080" y="2148840"/>
            <a:ext cx="1188720" cy="274320"/>
          </a:xfrm>
          <a:prstGeom prst="rect">
            <a:avLst/>
          </a:prstGeom>
          <a:noFill/>
          <a:ln/>
        </p:spPr>
        <p:txBody>
          <a:bodyPr wrap="square" lIns="0" tIns="0" rIns="0" bIns="0" rtlCol="0" anchor="t"/>
          <a:lstStyle/>
          <a:p>
            <a:pPr algn="ctr" indent="0" marL="0">
              <a:buNone/>
            </a:pPr>
            <a:r>
              <a:rPr lang="en-US" sz="1400" b="1" dirty="0">
                <a:solidFill>
                  <a:schemeClr val="tx2"/>
                </a:solidFill>
              </a:rPr>
              <a:t>Invoice</a:t>
            </a:r>
            <a:endParaRPr lang="en-US" sz="1400" dirty="0"/>
          </a:p>
        </p:txBody>
      </p:sp>
      <p:sp>
        <p:nvSpPr>
          <p:cNvPr id="22" name="Text 17"/>
          <p:cNvSpPr txBox="1"/>
          <p:nvPr/>
        </p:nvSpPr>
        <p:spPr>
          <a:xfrm>
            <a:off x="7498080" y="2468880"/>
            <a:ext cx="1188720" cy="502920"/>
          </a:xfrm>
          <a:prstGeom prst="rect">
            <a:avLst/>
          </a:prstGeom>
          <a:noFill/>
          <a:ln/>
        </p:spPr>
        <p:txBody>
          <a:bodyPr wrap="square" lIns="0" tIns="0" rIns="0" bIns="0" rtlCol="0" anchor="t"/>
          <a:lstStyle/>
          <a:p>
            <a:pPr algn="ctr" indent="0" marL="0">
              <a:buNone/>
            </a:pPr>
            <a:r>
              <a:rPr lang="en-US" sz="1200" dirty="0">
                <a:solidFill>
                  <a:schemeClr val="tx1"/>
                </a:solidFill>
              </a:rPr>
              <a:t>What the vendor bills</a:t>
            </a:r>
            <a:endParaRPr lang="en-US" sz="1200" dirty="0"/>
          </a:p>
        </p:txBody>
      </p:sp>
      <p:sp>
        <p:nvSpPr>
          <p:cNvPr id="23" name="Text 18"/>
          <p:cNvSpPr txBox="1"/>
          <p:nvPr/>
        </p:nvSpPr>
        <p:spPr>
          <a:xfrm>
            <a:off x="4206240" y="3337560"/>
            <a:ext cx="4480560" cy="274320"/>
          </a:xfrm>
          <a:prstGeom prst="rect">
            <a:avLst/>
          </a:prstGeom>
          <a:noFill/>
          <a:ln/>
        </p:spPr>
        <p:txBody>
          <a:bodyPr wrap="square" lIns="0" tIns="0" rIns="0" bIns="0" rtlCol="0" anchor="t"/>
          <a:lstStyle/>
          <a:p>
            <a:pPr indent="0" marL="0">
              <a:buNone/>
            </a:pPr>
            <a:r>
              <a:rPr lang="en-US" sz="1400" b="1" dirty="0">
                <a:solidFill>
                  <a:schemeClr val="tx2"/>
                </a:solidFill>
              </a:rPr>
              <a:t>What slips through</a:t>
            </a:r>
            <a:endParaRPr lang="en-US" sz="1400" dirty="0"/>
          </a:p>
        </p:txBody>
      </p:sp>
      <p:sp>
        <p:nvSpPr>
          <p:cNvPr id="24" name="error chip"/>
          <p:cNvSpPr txBox="1"/>
          <p:nvPr/>
        </p:nvSpPr>
        <p:spPr>
          <a:xfrm>
            <a:off x="4206240" y="3703320"/>
            <a:ext cx="1371600" cy="822960"/>
          </a:xfrm>
          <a:prstGeom prst="roundRect">
            <a:avLst>
              <a:gd name="adj" fmla="val 8889"/>
            </a:avLst>
          </a:prstGeom>
          <a:solidFill>
            <a:schemeClr val="accent3">
              <a:alpha val="15000"/>
            </a:schemeClr>
          </a:solidFill>
          <a:ln/>
        </p:spPr>
        <p:txBody>
          <a:bodyPr wrap="square" lIns="762" tIns="762" rIns="762" bIns="762" rtlCol="0" anchor="ctr"/>
          <a:lstStyle/>
          <a:p>
            <a:pPr algn="ctr" indent="0" marL="0">
              <a:buNone/>
            </a:pPr>
            <a:r>
              <a:rPr lang="en-US" sz="1200" b="1" dirty="0">
                <a:solidFill>
                  <a:schemeClr val="tx1"/>
                </a:solidFill>
              </a:rPr>
              <a:t>Price above the PO</a:t>
            </a:r>
            <a:endParaRPr lang="en-US" sz="1200" dirty="0"/>
          </a:p>
        </p:txBody>
      </p:sp>
      <p:sp>
        <p:nvSpPr>
          <p:cNvPr id="25" name="error chip"/>
          <p:cNvSpPr txBox="1"/>
          <p:nvPr/>
        </p:nvSpPr>
        <p:spPr>
          <a:xfrm>
            <a:off x="5806440" y="3703320"/>
            <a:ext cx="1371600" cy="822960"/>
          </a:xfrm>
          <a:prstGeom prst="roundRect">
            <a:avLst>
              <a:gd name="adj" fmla="val 8889"/>
            </a:avLst>
          </a:prstGeom>
          <a:solidFill>
            <a:schemeClr val="accent3">
              <a:alpha val="15000"/>
            </a:schemeClr>
          </a:solidFill>
          <a:ln/>
        </p:spPr>
        <p:txBody>
          <a:bodyPr wrap="square" lIns="762" tIns="762" rIns="762" bIns="762" rtlCol="0" anchor="ctr"/>
          <a:lstStyle/>
          <a:p>
            <a:pPr algn="ctr" indent="0" marL="0">
              <a:buNone/>
            </a:pPr>
            <a:r>
              <a:rPr lang="en-US" sz="1200" b="1" dirty="0">
                <a:solidFill>
                  <a:schemeClr val="tx1"/>
                </a:solidFill>
              </a:rPr>
              <a:t>Billed more than received</a:t>
            </a:r>
            <a:endParaRPr lang="en-US" sz="1200" dirty="0"/>
          </a:p>
        </p:txBody>
      </p:sp>
      <p:sp>
        <p:nvSpPr>
          <p:cNvPr id="26" name="error chip"/>
          <p:cNvSpPr txBox="1"/>
          <p:nvPr/>
        </p:nvSpPr>
        <p:spPr>
          <a:xfrm>
            <a:off x="7406640" y="3703320"/>
            <a:ext cx="1371600" cy="822960"/>
          </a:xfrm>
          <a:prstGeom prst="roundRect">
            <a:avLst>
              <a:gd name="adj" fmla="val 8889"/>
            </a:avLst>
          </a:prstGeom>
          <a:solidFill>
            <a:schemeClr val="accent3">
              <a:alpha val="15000"/>
            </a:schemeClr>
          </a:solidFill>
          <a:ln/>
        </p:spPr>
        <p:txBody>
          <a:bodyPr wrap="square" lIns="762" tIns="762" rIns="762" bIns="762" rtlCol="0" anchor="ctr"/>
          <a:lstStyle/>
          <a:p>
            <a:pPr algn="ctr" indent="0" marL="0">
              <a:buNone/>
            </a:pPr>
            <a:r>
              <a:rPr lang="en-US" sz="1200" b="1" dirty="0">
                <a:solidFill>
                  <a:schemeClr val="tx1"/>
                </a:solidFill>
              </a:rPr>
              <a:t>Same invoice paid twice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From manual checks to agents</a:t>
            </a:r>
            <a:endParaRPr lang="en-US" sz="3400" dirty="0"/>
          </a:p>
        </p:txBody>
      </p:sp>
      <p:sp>
        <p:nvSpPr>
          <p:cNvPr id="3" name="panel"/>
          <p:cNvSpPr/>
          <p:nvPr/>
        </p:nvSpPr>
        <p:spPr>
          <a:xfrm>
            <a:off x="457200" y="1234440"/>
            <a:ext cx="4023360" cy="3383280"/>
          </a:xfrm>
          <a:prstGeom prst="roundRect">
            <a:avLst>
              <a:gd name="adj" fmla="val 2162"/>
            </a:avLst>
          </a:prstGeom>
          <a:solidFill>
            <a:schemeClr val="bg2"/>
          </a:solidFill>
          <a:ln/>
        </p:spPr>
      </p:sp>
      <p:sp>
        <p:nvSpPr>
          <p:cNvPr id="4" name="Text 2"/>
          <p:cNvSpPr txBox="1"/>
          <p:nvPr/>
        </p:nvSpPr>
        <p:spPr>
          <a:xfrm>
            <a:off x="731520" y="1417320"/>
            <a:ext cx="3474720" cy="411480"/>
          </a:xfrm>
          <a:prstGeom prst="rect">
            <a:avLst/>
          </a:prstGeom>
          <a:noFill/>
          <a:ln/>
        </p:spPr>
        <p:txBody>
          <a:bodyPr wrap="square" lIns="0" tIns="0" rIns="0" bIns="0" rtlCol="0" anchor="t"/>
          <a:lstStyle/>
          <a:p>
            <a:pPr indent="0" marL="0">
              <a:buNone/>
            </a:pPr>
            <a:r>
              <a:rPr lang="en-US" sz="2000" b="1" dirty="0">
                <a:solidFill>
                  <a:schemeClr val="tx2"/>
                </a:solidFill>
              </a:rPr>
              <a:t>Today: manual review</a:t>
            </a:r>
            <a:endParaRPr lang="en-US" sz="2000" dirty="0"/>
          </a:p>
        </p:txBody>
      </p:sp>
      <p:sp>
        <p:nvSpPr>
          <p:cNvPr id="5" name="badge"/>
          <p:cNvSpPr/>
          <p:nvPr/>
        </p:nvSpPr>
        <p:spPr>
          <a:xfrm>
            <a:off x="731520" y="2093976"/>
            <a:ext cx="329184" cy="329184"/>
          </a:xfrm>
          <a:prstGeom prst="ellipse">
            <a:avLst/>
          </a:prstGeom>
          <a:solidFill>
            <a:schemeClr val="accent3"/>
          </a:solidFill>
          <a:ln/>
        </p:spPr>
      </p:sp>
      <p:pic>
        <p:nvPicPr>
          <p:cNvPr id="6" name="Image 0" descr="preencoded.png">    </p:cNvPr>
          <p:cNvPicPr>
            <a:picLocks noChangeAspect="1"/>
          </p:cNvPicPr>
          <p:nvPr/>
        </p:nvPicPr>
        <p:blipFill>
          <a:blip r:embed="rId1"/>
          <a:stretch>
            <a:fillRect/>
          </a:stretch>
        </p:blipFill>
        <p:spPr>
          <a:xfrm>
            <a:off x="822960" y="2185416"/>
            <a:ext cx="146304" cy="146304"/>
          </a:xfrm>
          <a:prstGeom prst="rect">
            <a:avLst/>
          </a:prstGeom>
        </p:spPr>
      </p:pic>
      <p:sp>
        <p:nvSpPr>
          <p:cNvPr id="7" name="Text 4"/>
          <p:cNvSpPr txBox="1"/>
          <p:nvPr/>
        </p:nvSpPr>
        <p:spPr>
          <a:xfrm>
            <a:off x="1234440" y="2057400"/>
            <a:ext cx="3063240" cy="457200"/>
          </a:xfrm>
          <a:prstGeom prst="rect">
            <a:avLst/>
          </a:prstGeom>
          <a:noFill/>
          <a:ln/>
        </p:spPr>
        <p:txBody>
          <a:bodyPr wrap="square" lIns="0" tIns="0" rIns="0" bIns="0" rtlCol="0" anchor="ctr"/>
          <a:lstStyle/>
          <a:p>
            <a:pPr indent="0" marL="0">
              <a:buNone/>
            </a:pPr>
            <a:r>
              <a:rPr lang="en-US" sz="1400" dirty="0">
                <a:solidFill>
                  <a:schemeClr val="tx1"/>
                </a:solidFill>
              </a:rPr>
              <a:t>Staff compare three documents by hand</a:t>
            </a:r>
            <a:endParaRPr lang="en-US" sz="1400" dirty="0"/>
          </a:p>
        </p:txBody>
      </p:sp>
      <p:sp>
        <p:nvSpPr>
          <p:cNvPr id="8" name="badge"/>
          <p:cNvSpPr/>
          <p:nvPr/>
        </p:nvSpPr>
        <p:spPr>
          <a:xfrm>
            <a:off x="731520" y="2715768"/>
            <a:ext cx="329184" cy="329184"/>
          </a:xfrm>
          <a:prstGeom prst="ellipse">
            <a:avLst/>
          </a:prstGeom>
          <a:solidFill>
            <a:schemeClr val="accent3"/>
          </a:solidFill>
          <a:ln/>
        </p:spPr>
      </p:sp>
      <p:pic>
        <p:nvPicPr>
          <p:cNvPr id="9" name="Image 1" descr="preencoded.png">    </p:cNvPr>
          <p:cNvPicPr>
            <a:picLocks noChangeAspect="1"/>
          </p:cNvPicPr>
          <p:nvPr/>
        </p:nvPicPr>
        <p:blipFill>
          <a:blip r:embed="rId2"/>
          <a:stretch>
            <a:fillRect/>
          </a:stretch>
        </p:blipFill>
        <p:spPr>
          <a:xfrm>
            <a:off x="822960" y="2807208"/>
            <a:ext cx="146304" cy="146304"/>
          </a:xfrm>
          <a:prstGeom prst="rect">
            <a:avLst/>
          </a:prstGeom>
        </p:spPr>
      </p:pic>
      <p:sp>
        <p:nvSpPr>
          <p:cNvPr id="10" name="Text 6"/>
          <p:cNvSpPr txBox="1"/>
          <p:nvPr/>
        </p:nvSpPr>
        <p:spPr>
          <a:xfrm>
            <a:off x="1234440" y="2679192"/>
            <a:ext cx="3063240" cy="457200"/>
          </a:xfrm>
          <a:prstGeom prst="rect">
            <a:avLst/>
          </a:prstGeom>
          <a:noFill/>
          <a:ln/>
        </p:spPr>
        <p:txBody>
          <a:bodyPr wrap="square" lIns="0" tIns="0" rIns="0" bIns="0" rtlCol="0" anchor="ctr"/>
          <a:lstStyle/>
          <a:p>
            <a:pPr indent="0" marL="0">
              <a:buNone/>
            </a:pPr>
            <a:r>
              <a:rPr lang="en-US" sz="1400" dirty="0">
                <a:solidFill>
                  <a:schemeClr val="tx1"/>
                </a:solidFill>
              </a:rPr>
              <a:t>Slow and repetitive for every invoice</a:t>
            </a:r>
            <a:endParaRPr lang="en-US" sz="1400" dirty="0"/>
          </a:p>
        </p:txBody>
      </p:sp>
      <p:sp>
        <p:nvSpPr>
          <p:cNvPr id="11" name="badge"/>
          <p:cNvSpPr/>
          <p:nvPr/>
        </p:nvSpPr>
        <p:spPr>
          <a:xfrm>
            <a:off x="731520" y="3337560"/>
            <a:ext cx="329184" cy="329184"/>
          </a:xfrm>
          <a:prstGeom prst="ellipse">
            <a:avLst/>
          </a:prstGeom>
          <a:solidFill>
            <a:schemeClr val="accent3"/>
          </a:solidFill>
          <a:ln/>
        </p:spPr>
      </p:sp>
      <p:pic>
        <p:nvPicPr>
          <p:cNvPr id="12" name="Image 2" descr="preencoded.png">    </p:cNvPr>
          <p:cNvPicPr>
            <a:picLocks noChangeAspect="1"/>
          </p:cNvPicPr>
          <p:nvPr/>
        </p:nvPicPr>
        <p:blipFill>
          <a:blip r:embed="rId3"/>
          <a:stretch>
            <a:fillRect/>
          </a:stretch>
        </p:blipFill>
        <p:spPr>
          <a:xfrm>
            <a:off x="822960" y="3429000"/>
            <a:ext cx="146304" cy="146304"/>
          </a:xfrm>
          <a:prstGeom prst="rect">
            <a:avLst/>
          </a:prstGeom>
        </p:spPr>
      </p:pic>
      <p:sp>
        <p:nvSpPr>
          <p:cNvPr id="13" name="Text 8"/>
          <p:cNvSpPr txBox="1"/>
          <p:nvPr/>
        </p:nvSpPr>
        <p:spPr>
          <a:xfrm>
            <a:off x="1234440" y="3300984"/>
            <a:ext cx="3063240" cy="457200"/>
          </a:xfrm>
          <a:prstGeom prst="rect">
            <a:avLst/>
          </a:prstGeom>
          <a:noFill/>
          <a:ln/>
        </p:spPr>
        <p:txBody>
          <a:bodyPr wrap="square" lIns="0" tIns="0" rIns="0" bIns="0" rtlCol="0" anchor="ctr"/>
          <a:lstStyle/>
          <a:p>
            <a:pPr indent="0" marL="0">
              <a:buNone/>
            </a:pPr>
            <a:r>
              <a:rPr lang="en-US" sz="1400" dirty="0">
                <a:solidFill>
                  <a:schemeClr val="tx1"/>
                </a:solidFill>
              </a:rPr>
              <a:t>Errors often found after payment</a:t>
            </a:r>
            <a:endParaRPr lang="en-US" sz="1400" dirty="0"/>
          </a:p>
        </p:txBody>
      </p:sp>
      <p:sp>
        <p:nvSpPr>
          <p:cNvPr id="14" name="badge"/>
          <p:cNvSpPr/>
          <p:nvPr/>
        </p:nvSpPr>
        <p:spPr>
          <a:xfrm>
            <a:off x="731520" y="3959352"/>
            <a:ext cx="329184" cy="329184"/>
          </a:xfrm>
          <a:prstGeom prst="ellipse">
            <a:avLst/>
          </a:prstGeom>
          <a:solidFill>
            <a:schemeClr val="accent3"/>
          </a:solidFill>
          <a:ln/>
        </p:spPr>
      </p:sp>
      <p:pic>
        <p:nvPicPr>
          <p:cNvPr id="15" name="Image 3" descr="preencoded.png">    </p:cNvPr>
          <p:cNvPicPr>
            <a:picLocks noChangeAspect="1"/>
          </p:cNvPicPr>
          <p:nvPr/>
        </p:nvPicPr>
        <p:blipFill>
          <a:blip r:embed="rId4"/>
          <a:stretch>
            <a:fillRect/>
          </a:stretch>
        </p:blipFill>
        <p:spPr>
          <a:xfrm>
            <a:off x="822960" y="4050792"/>
            <a:ext cx="146304" cy="146304"/>
          </a:xfrm>
          <a:prstGeom prst="rect">
            <a:avLst/>
          </a:prstGeom>
        </p:spPr>
      </p:pic>
      <p:sp>
        <p:nvSpPr>
          <p:cNvPr id="16" name="Text 10"/>
          <p:cNvSpPr txBox="1"/>
          <p:nvPr/>
        </p:nvSpPr>
        <p:spPr>
          <a:xfrm>
            <a:off x="1234440" y="3922776"/>
            <a:ext cx="3063240" cy="457200"/>
          </a:xfrm>
          <a:prstGeom prst="rect">
            <a:avLst/>
          </a:prstGeom>
          <a:noFill/>
          <a:ln/>
        </p:spPr>
        <p:txBody>
          <a:bodyPr wrap="square" lIns="0" tIns="0" rIns="0" bIns="0" rtlCol="0" anchor="ctr"/>
          <a:lstStyle/>
          <a:p>
            <a:pPr indent="0" marL="0">
              <a:buNone/>
            </a:pPr>
            <a:r>
              <a:rPr lang="en-US" sz="1400" dirty="0">
                <a:solidFill>
                  <a:schemeClr val="tx1"/>
                </a:solidFill>
              </a:rPr>
              <a:t>No consistent written reason</a:t>
            </a:r>
            <a:endParaRPr lang="en-US" sz="1400" dirty="0"/>
          </a:p>
        </p:txBody>
      </p:sp>
      <p:sp>
        <p:nvSpPr>
          <p:cNvPr id="17" name="panel"/>
          <p:cNvSpPr/>
          <p:nvPr/>
        </p:nvSpPr>
        <p:spPr>
          <a:xfrm>
            <a:off x="4663440" y="1234440"/>
            <a:ext cx="4023360" cy="3383280"/>
          </a:xfrm>
          <a:prstGeom prst="roundRect">
            <a:avLst>
              <a:gd name="adj" fmla="val 2162"/>
            </a:avLst>
          </a:prstGeom>
          <a:solidFill>
            <a:schemeClr val="accent1"/>
          </a:solidFill>
          <a:ln/>
        </p:spPr>
      </p:sp>
      <p:sp>
        <p:nvSpPr>
          <p:cNvPr id="18" name="Text 12"/>
          <p:cNvSpPr txBox="1"/>
          <p:nvPr/>
        </p:nvSpPr>
        <p:spPr>
          <a:xfrm>
            <a:off x="4937760" y="1417320"/>
            <a:ext cx="3474720" cy="411480"/>
          </a:xfrm>
          <a:prstGeom prst="rect">
            <a:avLst/>
          </a:prstGeom>
          <a:noFill/>
          <a:ln/>
        </p:spPr>
        <p:txBody>
          <a:bodyPr wrap="square" lIns="0" tIns="0" rIns="0" bIns="0" rtlCol="0" anchor="t"/>
          <a:lstStyle/>
          <a:p>
            <a:pPr indent="0" marL="0">
              <a:buNone/>
            </a:pPr>
            <a:r>
              <a:rPr lang="en-US" sz="2000" b="1" dirty="0">
                <a:solidFill>
                  <a:schemeClr val="bg1"/>
                </a:solidFill>
              </a:rPr>
              <a:t>With agents</a:t>
            </a:r>
            <a:endParaRPr lang="en-US" sz="2000" dirty="0"/>
          </a:p>
        </p:txBody>
      </p:sp>
      <p:sp>
        <p:nvSpPr>
          <p:cNvPr id="19" name="badge"/>
          <p:cNvSpPr/>
          <p:nvPr/>
        </p:nvSpPr>
        <p:spPr>
          <a:xfrm>
            <a:off x="4937760" y="2093976"/>
            <a:ext cx="329184" cy="329184"/>
          </a:xfrm>
          <a:prstGeom prst="ellipse">
            <a:avLst/>
          </a:prstGeom>
          <a:solidFill>
            <a:schemeClr val="accent2"/>
          </a:solidFill>
          <a:ln/>
        </p:spPr>
      </p:sp>
      <p:pic>
        <p:nvPicPr>
          <p:cNvPr id="20" name="Image 4" descr="preencoded.png">    </p:cNvPr>
          <p:cNvPicPr>
            <a:picLocks noChangeAspect="1"/>
          </p:cNvPicPr>
          <p:nvPr/>
        </p:nvPicPr>
        <p:blipFill>
          <a:blip r:embed="rId5"/>
          <a:stretch>
            <a:fillRect/>
          </a:stretch>
        </p:blipFill>
        <p:spPr>
          <a:xfrm>
            <a:off x="5029200" y="2185416"/>
            <a:ext cx="146304" cy="146304"/>
          </a:xfrm>
          <a:prstGeom prst="rect">
            <a:avLst/>
          </a:prstGeom>
        </p:spPr>
      </p:pic>
      <p:sp>
        <p:nvSpPr>
          <p:cNvPr id="21" name="Text 14"/>
          <p:cNvSpPr txBox="1"/>
          <p:nvPr/>
        </p:nvSpPr>
        <p:spPr>
          <a:xfrm>
            <a:off x="5440680" y="2057400"/>
            <a:ext cx="3063240" cy="457200"/>
          </a:xfrm>
          <a:prstGeom prst="rect">
            <a:avLst/>
          </a:prstGeom>
          <a:noFill/>
          <a:ln/>
        </p:spPr>
        <p:txBody>
          <a:bodyPr wrap="square" lIns="0" tIns="0" rIns="0" bIns="0" rtlCol="0" anchor="ctr"/>
          <a:lstStyle/>
          <a:p>
            <a:pPr indent="0" marL="0">
              <a:buNone/>
            </a:pPr>
            <a:r>
              <a:rPr lang="en-US" sz="1400" dirty="0">
                <a:solidFill>
                  <a:schemeClr val="bg1"/>
                </a:solidFill>
              </a:rPr>
              <a:t>Planner orders the batch by urgency</a:t>
            </a:r>
            <a:endParaRPr lang="en-US" sz="1400" dirty="0"/>
          </a:p>
        </p:txBody>
      </p:sp>
      <p:sp>
        <p:nvSpPr>
          <p:cNvPr id="22" name="badge"/>
          <p:cNvSpPr/>
          <p:nvPr/>
        </p:nvSpPr>
        <p:spPr>
          <a:xfrm>
            <a:off x="4937760" y="2715768"/>
            <a:ext cx="329184" cy="329184"/>
          </a:xfrm>
          <a:prstGeom prst="ellipse">
            <a:avLst/>
          </a:prstGeom>
          <a:solidFill>
            <a:schemeClr val="accent2"/>
          </a:solidFill>
          <a:ln/>
        </p:spPr>
      </p:sp>
      <p:pic>
        <p:nvPicPr>
          <p:cNvPr id="23" name="Image 5" descr="preencoded.png">    </p:cNvPr>
          <p:cNvPicPr>
            <a:picLocks noChangeAspect="1"/>
          </p:cNvPicPr>
          <p:nvPr/>
        </p:nvPicPr>
        <p:blipFill>
          <a:blip r:embed="rId6"/>
          <a:stretch>
            <a:fillRect/>
          </a:stretch>
        </p:blipFill>
        <p:spPr>
          <a:xfrm>
            <a:off x="5029200" y="2807208"/>
            <a:ext cx="146304" cy="146304"/>
          </a:xfrm>
          <a:prstGeom prst="rect">
            <a:avLst/>
          </a:prstGeom>
        </p:spPr>
      </p:pic>
      <p:sp>
        <p:nvSpPr>
          <p:cNvPr id="24" name="Text 16"/>
          <p:cNvSpPr txBox="1"/>
          <p:nvPr/>
        </p:nvSpPr>
        <p:spPr>
          <a:xfrm>
            <a:off x="5440680" y="2679192"/>
            <a:ext cx="3063240" cy="457200"/>
          </a:xfrm>
          <a:prstGeom prst="rect">
            <a:avLst/>
          </a:prstGeom>
          <a:noFill/>
          <a:ln/>
        </p:spPr>
        <p:txBody>
          <a:bodyPr wrap="square" lIns="0" tIns="0" rIns="0" bIns="0" rtlCol="0" anchor="ctr"/>
          <a:lstStyle/>
          <a:p>
            <a:pPr indent="0" marL="0">
              <a:buNone/>
            </a:pPr>
            <a:r>
              <a:rPr lang="en-US" sz="1400" dirty="0">
                <a:solidFill>
                  <a:schemeClr val="bg1"/>
                </a:solidFill>
              </a:rPr>
              <a:t>Agents extract, validate and match</a:t>
            </a:r>
            <a:endParaRPr lang="en-US" sz="1400" dirty="0"/>
          </a:p>
        </p:txBody>
      </p:sp>
      <p:sp>
        <p:nvSpPr>
          <p:cNvPr id="25" name="badge"/>
          <p:cNvSpPr/>
          <p:nvPr/>
        </p:nvSpPr>
        <p:spPr>
          <a:xfrm>
            <a:off x="4937760" y="3337560"/>
            <a:ext cx="329184" cy="329184"/>
          </a:xfrm>
          <a:prstGeom prst="ellipse">
            <a:avLst/>
          </a:prstGeom>
          <a:solidFill>
            <a:schemeClr val="accent2"/>
          </a:solidFill>
          <a:ln/>
        </p:spPr>
      </p:sp>
      <p:pic>
        <p:nvPicPr>
          <p:cNvPr id="26" name="Image 6" descr="preencoded.png">    </p:cNvPr>
          <p:cNvPicPr>
            <a:picLocks noChangeAspect="1"/>
          </p:cNvPicPr>
          <p:nvPr/>
        </p:nvPicPr>
        <p:blipFill>
          <a:blip r:embed="rId7"/>
          <a:stretch>
            <a:fillRect/>
          </a:stretch>
        </p:blipFill>
        <p:spPr>
          <a:xfrm>
            <a:off x="5029200" y="3429000"/>
            <a:ext cx="146304" cy="146304"/>
          </a:xfrm>
          <a:prstGeom prst="rect">
            <a:avLst/>
          </a:prstGeom>
        </p:spPr>
      </p:pic>
      <p:sp>
        <p:nvSpPr>
          <p:cNvPr id="27" name="Text 18"/>
          <p:cNvSpPr txBox="1"/>
          <p:nvPr/>
        </p:nvSpPr>
        <p:spPr>
          <a:xfrm>
            <a:off x="5440680" y="3300984"/>
            <a:ext cx="3063240" cy="457200"/>
          </a:xfrm>
          <a:prstGeom prst="rect">
            <a:avLst/>
          </a:prstGeom>
          <a:noFill/>
          <a:ln/>
        </p:spPr>
        <p:txBody>
          <a:bodyPr wrap="square" lIns="0" tIns="0" rIns="0" bIns="0" rtlCol="0" anchor="ctr"/>
          <a:lstStyle/>
          <a:p>
            <a:pPr indent="0" marL="0">
              <a:buNone/>
            </a:pPr>
            <a:r>
              <a:rPr lang="en-US" sz="1400" dirty="0">
                <a:solidFill>
                  <a:schemeClr val="bg1"/>
                </a:solidFill>
              </a:rPr>
              <a:t>Problems caught before payment</a:t>
            </a:r>
            <a:endParaRPr lang="en-US" sz="1400" dirty="0"/>
          </a:p>
        </p:txBody>
      </p:sp>
      <p:sp>
        <p:nvSpPr>
          <p:cNvPr id="28" name="badge"/>
          <p:cNvSpPr/>
          <p:nvPr/>
        </p:nvSpPr>
        <p:spPr>
          <a:xfrm>
            <a:off x="4937760" y="3959352"/>
            <a:ext cx="329184" cy="329184"/>
          </a:xfrm>
          <a:prstGeom prst="ellipse">
            <a:avLst/>
          </a:prstGeom>
          <a:solidFill>
            <a:schemeClr val="accent2"/>
          </a:solidFill>
          <a:ln/>
        </p:spPr>
      </p:sp>
      <p:pic>
        <p:nvPicPr>
          <p:cNvPr id="29" name="Image 7" descr="preencoded.png">    </p:cNvPr>
          <p:cNvPicPr>
            <a:picLocks noChangeAspect="1"/>
          </p:cNvPicPr>
          <p:nvPr/>
        </p:nvPicPr>
        <p:blipFill>
          <a:blip r:embed="rId8"/>
          <a:stretch>
            <a:fillRect/>
          </a:stretch>
        </p:blipFill>
        <p:spPr>
          <a:xfrm>
            <a:off x="5029200" y="4050792"/>
            <a:ext cx="146304" cy="146304"/>
          </a:xfrm>
          <a:prstGeom prst="rect">
            <a:avLst/>
          </a:prstGeom>
        </p:spPr>
      </p:pic>
      <p:sp>
        <p:nvSpPr>
          <p:cNvPr id="30" name="Text 20"/>
          <p:cNvSpPr txBox="1"/>
          <p:nvPr/>
        </p:nvSpPr>
        <p:spPr>
          <a:xfrm>
            <a:off x="5440680" y="3922776"/>
            <a:ext cx="3063240" cy="457200"/>
          </a:xfrm>
          <a:prstGeom prst="rect">
            <a:avLst/>
          </a:prstGeom>
          <a:noFill/>
          <a:ln/>
        </p:spPr>
        <p:txBody>
          <a:bodyPr wrap="square" lIns="0" tIns="0" rIns="0" bIns="0" rtlCol="0" anchor="ctr"/>
          <a:lstStyle/>
          <a:p>
            <a:pPr indent="0" marL="0">
              <a:buNone/>
            </a:pPr>
            <a:r>
              <a:rPr lang="en-US" sz="1400" dirty="0">
                <a:solidFill>
                  <a:schemeClr val="bg1"/>
                </a:solidFill>
              </a:rPr>
              <a:t>Every decision comes with a reason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Five agents, one job</a:t>
            </a:r>
            <a:endParaRPr lang="en-US" sz="3400" dirty="0"/>
          </a:p>
        </p:txBody>
      </p:sp>
      <p:sp>
        <p:nvSpPr>
          <p:cNvPr id="3" name="agent row"/>
          <p:cNvSpPr/>
          <p:nvPr/>
        </p:nvSpPr>
        <p:spPr>
          <a:xfrm>
            <a:off x="457200" y="1188720"/>
            <a:ext cx="8229600" cy="603504"/>
          </a:xfrm>
          <a:prstGeom prst="roundRect">
            <a:avLst>
              <a:gd name="adj" fmla="val 12121"/>
            </a:avLst>
          </a:prstGeom>
          <a:solidFill>
            <a:schemeClr val="bg2"/>
          </a:solidFill>
          <a:ln/>
        </p:spPr>
      </p:sp>
      <p:sp>
        <p:nvSpPr>
          <p:cNvPr id="4" name="badge"/>
          <p:cNvSpPr/>
          <p:nvPr/>
        </p:nvSpPr>
        <p:spPr>
          <a:xfrm>
            <a:off x="594360" y="1280160"/>
            <a:ext cx="420624" cy="420624"/>
          </a:xfrm>
          <a:prstGeom prst="ellipse">
            <a:avLst/>
          </a:prstGeom>
          <a:solidFill>
            <a:schemeClr val="accent1"/>
          </a:solidFill>
          <a:ln/>
        </p:spPr>
      </p:sp>
      <p:pic>
        <p:nvPicPr>
          <p:cNvPr id="5" name="Image 0" descr="Planner">    </p:cNvPr>
          <p:cNvPicPr>
            <a:picLocks noChangeAspect="1"/>
          </p:cNvPicPr>
          <p:nvPr/>
        </p:nvPicPr>
        <p:blipFill>
          <a:blip r:embed="rId1"/>
          <a:stretch>
            <a:fillRect/>
          </a:stretch>
        </p:blipFill>
        <p:spPr>
          <a:xfrm>
            <a:off x="713232" y="1399032"/>
            <a:ext cx="182880" cy="182880"/>
          </a:xfrm>
          <a:prstGeom prst="rect">
            <a:avLst/>
          </a:prstGeom>
        </p:spPr>
      </p:pic>
      <p:sp>
        <p:nvSpPr>
          <p:cNvPr id="6" name="Text 3"/>
          <p:cNvSpPr txBox="1"/>
          <p:nvPr/>
        </p:nvSpPr>
        <p:spPr>
          <a:xfrm>
            <a:off x="1234440" y="1188720"/>
            <a:ext cx="1645920" cy="603504"/>
          </a:xfrm>
          <a:prstGeom prst="rect">
            <a:avLst/>
          </a:prstGeom>
          <a:noFill/>
          <a:ln/>
        </p:spPr>
        <p:txBody>
          <a:bodyPr wrap="square" lIns="0" tIns="0" rIns="0" bIns="0" rtlCol="0" anchor="ctr"/>
          <a:lstStyle/>
          <a:p>
            <a:pPr indent="0" marL="0">
              <a:buNone/>
            </a:pPr>
            <a:r>
              <a:rPr lang="en-US" sz="1600" b="1" dirty="0">
                <a:solidFill>
                  <a:schemeClr val="tx2"/>
                </a:solidFill>
              </a:rPr>
              <a:t>Planner</a:t>
            </a:r>
            <a:endParaRPr lang="en-US" sz="1600" dirty="0"/>
          </a:p>
        </p:txBody>
      </p:sp>
      <p:sp>
        <p:nvSpPr>
          <p:cNvPr id="7" name="Text 4"/>
          <p:cNvSpPr txBox="1"/>
          <p:nvPr/>
        </p:nvSpPr>
        <p:spPr>
          <a:xfrm>
            <a:off x="2926080" y="1188720"/>
            <a:ext cx="5577840" cy="603504"/>
          </a:xfrm>
          <a:prstGeom prst="rect">
            <a:avLst/>
          </a:prstGeom>
          <a:noFill/>
          <a:ln/>
        </p:spPr>
        <p:txBody>
          <a:bodyPr wrap="square" lIns="0" tIns="0" rIns="0" bIns="0" rtlCol="0" anchor="ctr"/>
          <a:lstStyle/>
          <a:p>
            <a:pPr indent="0" marL="0">
              <a:buNone/>
            </a:pPr>
            <a:r>
              <a:rPr lang="en-US" sz="1400" dirty="0">
                <a:solidFill>
                  <a:schemeClr val="tx1"/>
                </a:solidFill>
              </a:rPr>
              <a:t>Sequences the batch by due date and amount; flags urgent invoices</a:t>
            </a:r>
            <a:endParaRPr lang="en-US" sz="1400" dirty="0"/>
          </a:p>
        </p:txBody>
      </p:sp>
      <p:sp>
        <p:nvSpPr>
          <p:cNvPr id="8" name="agent row"/>
          <p:cNvSpPr/>
          <p:nvPr/>
        </p:nvSpPr>
        <p:spPr>
          <a:xfrm>
            <a:off x="457200" y="1883664"/>
            <a:ext cx="8229600" cy="603504"/>
          </a:xfrm>
          <a:prstGeom prst="roundRect">
            <a:avLst>
              <a:gd name="adj" fmla="val 12121"/>
            </a:avLst>
          </a:prstGeom>
          <a:solidFill>
            <a:schemeClr val="bg2"/>
          </a:solidFill>
          <a:ln/>
        </p:spPr>
      </p:sp>
      <p:sp>
        <p:nvSpPr>
          <p:cNvPr id="9" name="badge"/>
          <p:cNvSpPr/>
          <p:nvPr/>
        </p:nvSpPr>
        <p:spPr>
          <a:xfrm>
            <a:off x="594360" y="1975104"/>
            <a:ext cx="420624" cy="420624"/>
          </a:xfrm>
          <a:prstGeom prst="ellipse">
            <a:avLst/>
          </a:prstGeom>
          <a:solidFill>
            <a:schemeClr val="accent1"/>
          </a:solidFill>
          <a:ln/>
        </p:spPr>
      </p:sp>
      <p:pic>
        <p:nvPicPr>
          <p:cNvPr id="10" name="Image 1" descr="Extraction">    </p:cNvPr>
          <p:cNvPicPr>
            <a:picLocks noChangeAspect="1"/>
          </p:cNvPicPr>
          <p:nvPr/>
        </p:nvPicPr>
        <p:blipFill>
          <a:blip r:embed="rId2"/>
          <a:stretch>
            <a:fillRect/>
          </a:stretch>
        </p:blipFill>
        <p:spPr>
          <a:xfrm>
            <a:off x="713232" y="2093976"/>
            <a:ext cx="182880" cy="182880"/>
          </a:xfrm>
          <a:prstGeom prst="rect">
            <a:avLst/>
          </a:prstGeom>
        </p:spPr>
      </p:pic>
      <p:sp>
        <p:nvSpPr>
          <p:cNvPr id="11" name="Text 7"/>
          <p:cNvSpPr txBox="1"/>
          <p:nvPr/>
        </p:nvSpPr>
        <p:spPr>
          <a:xfrm>
            <a:off x="1234440" y="1883664"/>
            <a:ext cx="1645920" cy="603504"/>
          </a:xfrm>
          <a:prstGeom prst="rect">
            <a:avLst/>
          </a:prstGeom>
          <a:noFill/>
          <a:ln/>
        </p:spPr>
        <p:txBody>
          <a:bodyPr wrap="square" lIns="0" tIns="0" rIns="0" bIns="0" rtlCol="0" anchor="ctr"/>
          <a:lstStyle/>
          <a:p>
            <a:pPr indent="0" marL="0">
              <a:buNone/>
            </a:pPr>
            <a:r>
              <a:rPr lang="en-US" sz="1600" b="1" dirty="0">
                <a:solidFill>
                  <a:schemeClr val="tx2"/>
                </a:solidFill>
              </a:rPr>
              <a:t>Extraction</a:t>
            </a:r>
            <a:endParaRPr lang="en-US" sz="1600" dirty="0"/>
          </a:p>
        </p:txBody>
      </p:sp>
      <p:sp>
        <p:nvSpPr>
          <p:cNvPr id="12" name="Text 8"/>
          <p:cNvSpPr txBox="1"/>
          <p:nvPr/>
        </p:nvSpPr>
        <p:spPr>
          <a:xfrm>
            <a:off x="2926080" y="1883664"/>
            <a:ext cx="5577840" cy="603504"/>
          </a:xfrm>
          <a:prstGeom prst="rect">
            <a:avLst/>
          </a:prstGeom>
          <a:noFill/>
          <a:ln/>
        </p:spPr>
        <p:txBody>
          <a:bodyPr wrap="square" lIns="0" tIns="0" rIns="0" bIns="0" rtlCol="0" anchor="ctr"/>
          <a:lstStyle/>
          <a:p>
            <a:pPr indent="0" marL="0">
              <a:buNone/>
            </a:pPr>
            <a:r>
              <a:rPr lang="en-US" sz="1400" dirty="0">
                <a:solidFill>
                  <a:schemeClr val="tx1"/>
                </a:solidFill>
              </a:rPr>
              <a:t>Turns invoice text into a typed schema with an LLM or parser; retries if rejected</a:t>
            </a:r>
            <a:endParaRPr lang="en-US" sz="1400" dirty="0"/>
          </a:p>
        </p:txBody>
      </p:sp>
      <p:sp>
        <p:nvSpPr>
          <p:cNvPr id="13" name="agent row"/>
          <p:cNvSpPr/>
          <p:nvPr/>
        </p:nvSpPr>
        <p:spPr>
          <a:xfrm>
            <a:off x="457200" y="2578608"/>
            <a:ext cx="8229600" cy="603504"/>
          </a:xfrm>
          <a:prstGeom prst="roundRect">
            <a:avLst>
              <a:gd name="adj" fmla="val 12121"/>
            </a:avLst>
          </a:prstGeom>
          <a:solidFill>
            <a:schemeClr val="bg2"/>
          </a:solidFill>
          <a:ln/>
        </p:spPr>
      </p:sp>
      <p:sp>
        <p:nvSpPr>
          <p:cNvPr id="14" name="badge"/>
          <p:cNvSpPr/>
          <p:nvPr/>
        </p:nvSpPr>
        <p:spPr>
          <a:xfrm>
            <a:off x="594360" y="2670048"/>
            <a:ext cx="420624" cy="420624"/>
          </a:xfrm>
          <a:prstGeom prst="ellipse">
            <a:avLst/>
          </a:prstGeom>
          <a:solidFill>
            <a:schemeClr val="accent1"/>
          </a:solidFill>
          <a:ln/>
        </p:spPr>
      </p:sp>
      <p:pic>
        <p:nvPicPr>
          <p:cNvPr id="15" name="Image 2" descr="Critic">    </p:cNvPr>
          <p:cNvPicPr>
            <a:picLocks noChangeAspect="1"/>
          </p:cNvPicPr>
          <p:nvPr/>
        </p:nvPicPr>
        <p:blipFill>
          <a:blip r:embed="rId3"/>
          <a:stretch>
            <a:fillRect/>
          </a:stretch>
        </p:blipFill>
        <p:spPr>
          <a:xfrm>
            <a:off x="713232" y="2788920"/>
            <a:ext cx="182880" cy="182880"/>
          </a:xfrm>
          <a:prstGeom prst="rect">
            <a:avLst/>
          </a:prstGeom>
        </p:spPr>
      </p:pic>
      <p:sp>
        <p:nvSpPr>
          <p:cNvPr id="16" name="Text 11"/>
          <p:cNvSpPr txBox="1"/>
          <p:nvPr/>
        </p:nvSpPr>
        <p:spPr>
          <a:xfrm>
            <a:off x="1234440" y="2578608"/>
            <a:ext cx="1645920" cy="603504"/>
          </a:xfrm>
          <a:prstGeom prst="rect">
            <a:avLst/>
          </a:prstGeom>
          <a:noFill/>
          <a:ln/>
        </p:spPr>
        <p:txBody>
          <a:bodyPr wrap="square" lIns="0" tIns="0" rIns="0" bIns="0" rtlCol="0" anchor="ctr"/>
          <a:lstStyle/>
          <a:p>
            <a:pPr indent="0" marL="0">
              <a:buNone/>
            </a:pPr>
            <a:r>
              <a:rPr lang="en-US" sz="1600" b="1" dirty="0">
                <a:solidFill>
                  <a:schemeClr val="tx2"/>
                </a:solidFill>
              </a:rPr>
              <a:t>Critic</a:t>
            </a:r>
            <a:endParaRPr lang="en-US" sz="1600" dirty="0"/>
          </a:p>
        </p:txBody>
      </p:sp>
      <p:sp>
        <p:nvSpPr>
          <p:cNvPr id="17" name="Text 12"/>
          <p:cNvSpPr txBox="1"/>
          <p:nvPr/>
        </p:nvSpPr>
        <p:spPr>
          <a:xfrm>
            <a:off x="2926080" y="2578608"/>
            <a:ext cx="5577840" cy="603504"/>
          </a:xfrm>
          <a:prstGeom prst="rect">
            <a:avLst/>
          </a:prstGeom>
          <a:noFill/>
          <a:ln/>
        </p:spPr>
        <p:txBody>
          <a:bodyPr wrap="square" lIns="0" tIns="0" rIns="0" bIns="0" rtlCol="0" anchor="ctr"/>
          <a:lstStyle/>
          <a:p>
            <a:pPr indent="0" marL="0">
              <a:buNone/>
            </a:pPr>
            <a:r>
              <a:rPr lang="en-US" sz="1400" dirty="0">
                <a:solidFill>
                  <a:schemeClr val="tx1"/>
                </a:solidFill>
              </a:rPr>
              <a:t>Rejects extractions that fail arithmetic checks; confirms every variance is explained</a:t>
            </a:r>
            <a:endParaRPr lang="en-US" sz="1400" dirty="0"/>
          </a:p>
        </p:txBody>
      </p:sp>
      <p:sp>
        <p:nvSpPr>
          <p:cNvPr id="18" name="agent row"/>
          <p:cNvSpPr/>
          <p:nvPr/>
        </p:nvSpPr>
        <p:spPr>
          <a:xfrm>
            <a:off x="457200" y="3273552"/>
            <a:ext cx="8229600" cy="603504"/>
          </a:xfrm>
          <a:prstGeom prst="roundRect">
            <a:avLst>
              <a:gd name="adj" fmla="val 12121"/>
            </a:avLst>
          </a:prstGeom>
          <a:solidFill>
            <a:schemeClr val="bg2"/>
          </a:solidFill>
          <a:ln/>
        </p:spPr>
      </p:sp>
      <p:sp>
        <p:nvSpPr>
          <p:cNvPr id="19" name="badge"/>
          <p:cNvSpPr/>
          <p:nvPr/>
        </p:nvSpPr>
        <p:spPr>
          <a:xfrm>
            <a:off x="594360" y="3364992"/>
            <a:ext cx="420624" cy="420624"/>
          </a:xfrm>
          <a:prstGeom prst="ellipse">
            <a:avLst/>
          </a:prstGeom>
          <a:solidFill>
            <a:schemeClr val="accent1"/>
          </a:solidFill>
          <a:ln/>
        </p:spPr>
      </p:sp>
      <p:pic>
        <p:nvPicPr>
          <p:cNvPr id="20" name="Image 3" descr="Matching">    </p:cNvPr>
          <p:cNvPicPr>
            <a:picLocks noChangeAspect="1"/>
          </p:cNvPicPr>
          <p:nvPr/>
        </p:nvPicPr>
        <p:blipFill>
          <a:blip r:embed="rId4"/>
          <a:stretch>
            <a:fillRect/>
          </a:stretch>
        </p:blipFill>
        <p:spPr>
          <a:xfrm>
            <a:off x="713232" y="3483864"/>
            <a:ext cx="182880" cy="182880"/>
          </a:xfrm>
          <a:prstGeom prst="rect">
            <a:avLst/>
          </a:prstGeom>
        </p:spPr>
      </p:pic>
      <p:sp>
        <p:nvSpPr>
          <p:cNvPr id="21" name="Text 15"/>
          <p:cNvSpPr txBox="1"/>
          <p:nvPr/>
        </p:nvSpPr>
        <p:spPr>
          <a:xfrm>
            <a:off x="1234440" y="3273552"/>
            <a:ext cx="1645920" cy="603504"/>
          </a:xfrm>
          <a:prstGeom prst="rect">
            <a:avLst/>
          </a:prstGeom>
          <a:noFill/>
          <a:ln/>
        </p:spPr>
        <p:txBody>
          <a:bodyPr wrap="square" lIns="0" tIns="0" rIns="0" bIns="0" rtlCol="0" anchor="ctr"/>
          <a:lstStyle/>
          <a:p>
            <a:pPr indent="0" marL="0">
              <a:buNone/>
            </a:pPr>
            <a:r>
              <a:rPr lang="en-US" sz="1600" b="1" dirty="0">
                <a:solidFill>
                  <a:schemeClr val="tx2"/>
                </a:solidFill>
              </a:rPr>
              <a:t>Matching</a:t>
            </a:r>
            <a:endParaRPr lang="en-US" sz="1600" dirty="0"/>
          </a:p>
        </p:txBody>
      </p:sp>
      <p:sp>
        <p:nvSpPr>
          <p:cNvPr id="22" name="Text 16"/>
          <p:cNvSpPr txBox="1"/>
          <p:nvPr/>
        </p:nvSpPr>
        <p:spPr>
          <a:xfrm>
            <a:off x="2926080" y="3273552"/>
            <a:ext cx="5577840" cy="603504"/>
          </a:xfrm>
          <a:prstGeom prst="rect">
            <a:avLst/>
          </a:prstGeom>
          <a:noFill/>
          <a:ln/>
        </p:spPr>
        <p:txBody>
          <a:bodyPr wrap="square" lIns="0" tIns="0" rIns="0" bIns="0" rtlCol="0" anchor="ctr"/>
          <a:lstStyle/>
          <a:p>
            <a:pPr indent="0" marL="0">
              <a:buNone/>
            </a:pPr>
            <a:r>
              <a:rPr lang="en-US" sz="1400" dirty="0">
                <a:solidFill>
                  <a:schemeClr val="tx1"/>
                </a:solidFill>
              </a:rPr>
              <a:t>Compares invoice, PO and goods receipt on price, quantity, tax, vendor and duplicates</a:t>
            </a:r>
            <a:endParaRPr lang="en-US" sz="1400" dirty="0"/>
          </a:p>
        </p:txBody>
      </p:sp>
      <p:sp>
        <p:nvSpPr>
          <p:cNvPr id="23" name="agent row"/>
          <p:cNvSpPr/>
          <p:nvPr/>
        </p:nvSpPr>
        <p:spPr>
          <a:xfrm>
            <a:off x="457200" y="3968496"/>
            <a:ext cx="8229600" cy="603504"/>
          </a:xfrm>
          <a:prstGeom prst="roundRect">
            <a:avLst>
              <a:gd name="adj" fmla="val 12121"/>
            </a:avLst>
          </a:prstGeom>
          <a:solidFill>
            <a:schemeClr val="bg2"/>
          </a:solidFill>
          <a:ln/>
        </p:spPr>
      </p:sp>
      <p:sp>
        <p:nvSpPr>
          <p:cNvPr id="24" name="badge"/>
          <p:cNvSpPr/>
          <p:nvPr/>
        </p:nvSpPr>
        <p:spPr>
          <a:xfrm>
            <a:off x="594360" y="4059936"/>
            <a:ext cx="420624" cy="420624"/>
          </a:xfrm>
          <a:prstGeom prst="ellipse">
            <a:avLst/>
          </a:prstGeom>
          <a:solidFill>
            <a:schemeClr val="accent1"/>
          </a:solidFill>
          <a:ln/>
        </p:spPr>
      </p:sp>
      <p:pic>
        <p:nvPicPr>
          <p:cNvPr id="25" name="Image 4" descr="Decision">    </p:cNvPr>
          <p:cNvPicPr>
            <a:picLocks noChangeAspect="1"/>
          </p:cNvPicPr>
          <p:nvPr/>
        </p:nvPicPr>
        <p:blipFill>
          <a:blip r:embed="rId5"/>
          <a:stretch>
            <a:fillRect/>
          </a:stretch>
        </p:blipFill>
        <p:spPr>
          <a:xfrm>
            <a:off x="713232" y="4178808"/>
            <a:ext cx="182880" cy="182880"/>
          </a:xfrm>
          <a:prstGeom prst="rect">
            <a:avLst/>
          </a:prstGeom>
        </p:spPr>
      </p:pic>
      <p:sp>
        <p:nvSpPr>
          <p:cNvPr id="26" name="Text 19"/>
          <p:cNvSpPr txBox="1"/>
          <p:nvPr/>
        </p:nvSpPr>
        <p:spPr>
          <a:xfrm>
            <a:off x="1234440" y="3968496"/>
            <a:ext cx="1645920" cy="603504"/>
          </a:xfrm>
          <a:prstGeom prst="rect">
            <a:avLst/>
          </a:prstGeom>
          <a:noFill/>
          <a:ln/>
        </p:spPr>
        <p:txBody>
          <a:bodyPr wrap="square" lIns="0" tIns="0" rIns="0" bIns="0" rtlCol="0" anchor="ctr"/>
          <a:lstStyle/>
          <a:p>
            <a:pPr indent="0" marL="0">
              <a:buNone/>
            </a:pPr>
            <a:r>
              <a:rPr lang="en-US" sz="1600" b="1" dirty="0">
                <a:solidFill>
                  <a:schemeClr val="tx2"/>
                </a:solidFill>
              </a:rPr>
              <a:t>Decision</a:t>
            </a:r>
            <a:endParaRPr lang="en-US" sz="1600" dirty="0"/>
          </a:p>
        </p:txBody>
      </p:sp>
      <p:sp>
        <p:nvSpPr>
          <p:cNvPr id="27" name="Text 20"/>
          <p:cNvSpPr txBox="1"/>
          <p:nvPr/>
        </p:nvSpPr>
        <p:spPr>
          <a:xfrm>
            <a:off x="2926080" y="3968496"/>
            <a:ext cx="5577840" cy="603504"/>
          </a:xfrm>
          <a:prstGeom prst="rect">
            <a:avLst/>
          </a:prstGeom>
          <a:noFill/>
          <a:ln/>
        </p:spPr>
        <p:txBody>
          <a:bodyPr wrap="square" lIns="0" tIns="0" rIns="0" bIns="0" rtlCol="0" anchor="ctr"/>
          <a:lstStyle/>
          <a:p>
            <a:pPr indent="0" marL="0">
              <a:buNone/>
            </a:pPr>
            <a:r>
              <a:rPr lang="en-US" sz="1400" dirty="0">
                <a:solidFill>
                  <a:schemeClr val="tx1"/>
                </a:solidFill>
              </a:rPr>
              <a:t>Applies business rules to approve, hold or escalate, and writes the reason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How the agents hand off</a:t>
            </a:r>
            <a:endParaRPr lang="en-US" sz="3400" dirty="0"/>
          </a:p>
        </p:txBody>
      </p:sp>
      <p:sp>
        <p:nvSpPr>
          <p:cNvPr id="3" name="agent step"/>
          <p:cNvSpPr txBox="1"/>
          <p:nvPr/>
        </p:nvSpPr>
        <p:spPr>
          <a:xfrm>
            <a:off x="457200" y="1828800"/>
            <a:ext cx="1188720" cy="914400"/>
          </a:xfrm>
          <a:prstGeom prst="roundRect">
            <a:avLst>
              <a:gd name="adj" fmla="val 8000"/>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Planner</a:t>
            </a:r>
            <a:endParaRPr lang="en-US" sz="1400" dirty="0"/>
          </a:p>
          <a:p>
            <a:pPr algn="ctr" indent="0" marL="0">
              <a:buNone/>
            </a:pPr>
            <a:r>
              <a:rPr lang="en-US" sz="1200" dirty="0">
                <a:solidFill>
                  <a:schemeClr val="bg1"/>
                </a:solidFill>
              </a:rPr>
              <a:t>order batch</a:t>
            </a:r>
            <a:endParaRPr lang="en-US" sz="1400" dirty="0"/>
          </a:p>
        </p:txBody>
      </p:sp>
      <p:sp>
        <p:nvSpPr>
          <p:cNvPr id="4" name="Shape 2"/>
          <p:cNvSpPr/>
          <p:nvPr/>
        </p:nvSpPr>
        <p:spPr>
          <a:xfrm>
            <a:off x="1645920" y="2286000"/>
            <a:ext cx="219456" cy="0"/>
          </a:xfrm>
          <a:prstGeom prst="line">
            <a:avLst/>
          </a:prstGeom>
          <a:noFill/>
          <a:ln w="22225">
            <a:solidFill>
              <a:schemeClr val="accent5"/>
            </a:solidFill>
            <a:prstDash val="solid"/>
            <a:tailEnd type="triangle"/>
          </a:ln>
        </p:spPr>
      </p:sp>
      <p:sp>
        <p:nvSpPr>
          <p:cNvPr id="5" name="agent step"/>
          <p:cNvSpPr txBox="1"/>
          <p:nvPr/>
        </p:nvSpPr>
        <p:spPr>
          <a:xfrm>
            <a:off x="1865376" y="1828800"/>
            <a:ext cx="1188720" cy="914400"/>
          </a:xfrm>
          <a:prstGeom prst="roundRect">
            <a:avLst>
              <a:gd name="adj" fmla="val 8000"/>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Extraction</a:t>
            </a:r>
            <a:endParaRPr lang="en-US" sz="1400" dirty="0"/>
          </a:p>
          <a:p>
            <a:pPr algn="ctr" indent="0" marL="0">
              <a:buNone/>
            </a:pPr>
            <a:r>
              <a:rPr lang="en-US" sz="1200" dirty="0">
                <a:solidFill>
                  <a:schemeClr val="bg1"/>
                </a:solidFill>
              </a:rPr>
              <a:t>read invoice</a:t>
            </a:r>
            <a:endParaRPr lang="en-US" sz="1400" dirty="0"/>
          </a:p>
        </p:txBody>
      </p:sp>
      <p:sp>
        <p:nvSpPr>
          <p:cNvPr id="6" name="Shape 4"/>
          <p:cNvSpPr/>
          <p:nvPr/>
        </p:nvSpPr>
        <p:spPr>
          <a:xfrm>
            <a:off x="3054096" y="2286000"/>
            <a:ext cx="219456" cy="0"/>
          </a:xfrm>
          <a:prstGeom prst="line">
            <a:avLst/>
          </a:prstGeom>
          <a:noFill/>
          <a:ln w="22225">
            <a:solidFill>
              <a:schemeClr val="accent5"/>
            </a:solidFill>
            <a:prstDash val="solid"/>
            <a:tailEnd type="triangle"/>
          </a:ln>
        </p:spPr>
      </p:sp>
      <p:sp>
        <p:nvSpPr>
          <p:cNvPr id="7" name="agent step"/>
          <p:cNvSpPr txBox="1"/>
          <p:nvPr/>
        </p:nvSpPr>
        <p:spPr>
          <a:xfrm>
            <a:off x="3273552" y="1828800"/>
            <a:ext cx="1188720" cy="914400"/>
          </a:xfrm>
          <a:prstGeom prst="roundRect">
            <a:avLst>
              <a:gd name="adj" fmla="val 8000"/>
            </a:avLst>
          </a:prstGeom>
          <a:solidFill>
            <a:schemeClr val="accent2"/>
          </a:solidFill>
          <a:ln/>
        </p:spPr>
        <p:txBody>
          <a:bodyPr wrap="square" lIns="635" tIns="635" rIns="635" bIns="635" rtlCol="0" anchor="ctr"/>
          <a:lstStyle/>
          <a:p>
            <a:pPr algn="ctr" indent="0" marL="0">
              <a:buNone/>
            </a:pPr>
            <a:r>
              <a:rPr lang="en-US" sz="1400" b="1" dirty="0">
                <a:solidFill>
                  <a:schemeClr val="tx1"/>
                </a:solidFill>
              </a:rPr>
              <a:t>Critic</a:t>
            </a:r>
            <a:endParaRPr lang="en-US" sz="1400" dirty="0"/>
          </a:p>
          <a:p>
            <a:pPr algn="ctr" indent="0" marL="0">
              <a:buNone/>
            </a:pPr>
            <a:r>
              <a:rPr lang="en-US" sz="1200" dirty="0">
                <a:solidFill>
                  <a:schemeClr val="tx1"/>
                </a:solidFill>
              </a:rPr>
              <a:t>validate</a:t>
            </a:r>
            <a:endParaRPr lang="en-US" sz="1400" dirty="0"/>
          </a:p>
        </p:txBody>
      </p:sp>
      <p:sp>
        <p:nvSpPr>
          <p:cNvPr id="8" name="Shape 6"/>
          <p:cNvSpPr/>
          <p:nvPr/>
        </p:nvSpPr>
        <p:spPr>
          <a:xfrm>
            <a:off x="4462272" y="2286000"/>
            <a:ext cx="219456" cy="0"/>
          </a:xfrm>
          <a:prstGeom prst="line">
            <a:avLst/>
          </a:prstGeom>
          <a:noFill/>
          <a:ln w="22225">
            <a:solidFill>
              <a:schemeClr val="accent5"/>
            </a:solidFill>
            <a:prstDash val="solid"/>
            <a:tailEnd type="triangle"/>
          </a:ln>
        </p:spPr>
      </p:sp>
      <p:sp>
        <p:nvSpPr>
          <p:cNvPr id="9" name="agent step"/>
          <p:cNvSpPr txBox="1"/>
          <p:nvPr/>
        </p:nvSpPr>
        <p:spPr>
          <a:xfrm>
            <a:off x="4681728" y="1828800"/>
            <a:ext cx="1188720" cy="914400"/>
          </a:xfrm>
          <a:prstGeom prst="roundRect">
            <a:avLst>
              <a:gd name="adj" fmla="val 8000"/>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Matching</a:t>
            </a:r>
            <a:endParaRPr lang="en-US" sz="1400" dirty="0"/>
          </a:p>
          <a:p>
            <a:pPr algn="ctr" indent="0" marL="0">
              <a:buNone/>
            </a:pPr>
            <a:r>
              <a:rPr lang="en-US" sz="1200" dirty="0">
                <a:solidFill>
                  <a:schemeClr val="bg1"/>
                </a:solidFill>
              </a:rPr>
              <a:t>3-way match</a:t>
            </a:r>
            <a:endParaRPr lang="en-US" sz="1400" dirty="0"/>
          </a:p>
        </p:txBody>
      </p:sp>
      <p:sp>
        <p:nvSpPr>
          <p:cNvPr id="10" name="Shape 8"/>
          <p:cNvSpPr/>
          <p:nvPr/>
        </p:nvSpPr>
        <p:spPr>
          <a:xfrm>
            <a:off x="5870448" y="2286000"/>
            <a:ext cx="219456" cy="0"/>
          </a:xfrm>
          <a:prstGeom prst="line">
            <a:avLst/>
          </a:prstGeom>
          <a:noFill/>
          <a:ln w="22225">
            <a:solidFill>
              <a:schemeClr val="accent5"/>
            </a:solidFill>
            <a:prstDash val="solid"/>
            <a:tailEnd type="triangle"/>
          </a:ln>
        </p:spPr>
      </p:sp>
      <p:sp>
        <p:nvSpPr>
          <p:cNvPr id="11" name="agent step"/>
          <p:cNvSpPr txBox="1"/>
          <p:nvPr/>
        </p:nvSpPr>
        <p:spPr>
          <a:xfrm>
            <a:off x="6089904" y="1828800"/>
            <a:ext cx="1188720" cy="914400"/>
          </a:xfrm>
          <a:prstGeom prst="roundRect">
            <a:avLst>
              <a:gd name="adj" fmla="val 8000"/>
            </a:avLst>
          </a:prstGeom>
          <a:solidFill>
            <a:schemeClr val="accent2"/>
          </a:solidFill>
          <a:ln/>
        </p:spPr>
        <p:txBody>
          <a:bodyPr wrap="square" lIns="635" tIns="635" rIns="635" bIns="635" rtlCol="0" anchor="ctr"/>
          <a:lstStyle/>
          <a:p>
            <a:pPr algn="ctr" indent="0" marL="0">
              <a:buNone/>
            </a:pPr>
            <a:r>
              <a:rPr lang="en-US" sz="1400" b="1" dirty="0">
                <a:solidFill>
                  <a:schemeClr val="tx1"/>
                </a:solidFill>
              </a:rPr>
              <a:t>Critic</a:t>
            </a:r>
            <a:endParaRPr lang="en-US" sz="1400" dirty="0"/>
          </a:p>
          <a:p>
            <a:pPr algn="ctr" indent="0" marL="0">
              <a:buNone/>
            </a:pPr>
            <a:r>
              <a:rPr lang="en-US" sz="1200" dirty="0">
                <a:solidFill>
                  <a:schemeClr val="tx1"/>
                </a:solidFill>
              </a:rPr>
              <a:t>cross-check</a:t>
            </a:r>
            <a:endParaRPr lang="en-US" sz="1400" dirty="0"/>
          </a:p>
        </p:txBody>
      </p:sp>
      <p:sp>
        <p:nvSpPr>
          <p:cNvPr id="12" name="Shape 10"/>
          <p:cNvSpPr/>
          <p:nvPr/>
        </p:nvSpPr>
        <p:spPr>
          <a:xfrm>
            <a:off x="7278624" y="2286000"/>
            <a:ext cx="219456" cy="0"/>
          </a:xfrm>
          <a:prstGeom prst="line">
            <a:avLst/>
          </a:prstGeom>
          <a:noFill/>
          <a:ln w="22225">
            <a:solidFill>
              <a:schemeClr val="accent5"/>
            </a:solidFill>
            <a:prstDash val="solid"/>
            <a:tailEnd type="triangle"/>
          </a:ln>
        </p:spPr>
      </p:sp>
      <p:sp>
        <p:nvSpPr>
          <p:cNvPr id="13" name="agent step"/>
          <p:cNvSpPr txBox="1"/>
          <p:nvPr/>
        </p:nvSpPr>
        <p:spPr>
          <a:xfrm>
            <a:off x="7498080" y="1828800"/>
            <a:ext cx="1188720" cy="914400"/>
          </a:xfrm>
          <a:prstGeom prst="roundRect">
            <a:avLst>
              <a:gd name="adj" fmla="val 8000"/>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Decision</a:t>
            </a:r>
            <a:endParaRPr lang="en-US" sz="1400" dirty="0"/>
          </a:p>
          <a:p>
            <a:pPr algn="ctr" indent="0" marL="0">
              <a:buNone/>
            </a:pPr>
            <a:r>
              <a:rPr lang="en-US" sz="1200" dirty="0">
                <a:solidFill>
                  <a:schemeClr val="bg1"/>
                </a:solidFill>
              </a:rPr>
              <a:t>act</a:t>
            </a:r>
            <a:endParaRPr lang="en-US" sz="1400" dirty="0"/>
          </a:p>
        </p:txBody>
      </p:sp>
      <p:sp>
        <p:nvSpPr>
          <p:cNvPr id="14" name="Shape 12"/>
          <p:cNvSpPr/>
          <p:nvPr/>
        </p:nvSpPr>
        <p:spPr>
          <a:xfrm>
            <a:off x="3867912" y="1600200"/>
            <a:ext cx="0" cy="228600"/>
          </a:xfrm>
          <a:prstGeom prst="line">
            <a:avLst/>
          </a:prstGeom>
          <a:noFill/>
          <a:ln w="22225">
            <a:solidFill>
              <a:schemeClr val="accent2"/>
            </a:solidFill>
            <a:prstDash val="solid"/>
          </a:ln>
        </p:spPr>
      </p:sp>
      <p:sp>
        <p:nvSpPr>
          <p:cNvPr id="15" name="Shape 13"/>
          <p:cNvSpPr/>
          <p:nvPr/>
        </p:nvSpPr>
        <p:spPr>
          <a:xfrm>
            <a:off x="2459736" y="1600200"/>
            <a:ext cx="1408176" cy="0"/>
          </a:xfrm>
          <a:prstGeom prst="line">
            <a:avLst/>
          </a:prstGeom>
          <a:noFill/>
          <a:ln w="22225">
            <a:solidFill>
              <a:schemeClr val="accent2"/>
            </a:solidFill>
            <a:prstDash val="solid"/>
          </a:ln>
        </p:spPr>
      </p:sp>
      <p:sp>
        <p:nvSpPr>
          <p:cNvPr id="16" name="Shape 14"/>
          <p:cNvSpPr/>
          <p:nvPr/>
        </p:nvSpPr>
        <p:spPr>
          <a:xfrm>
            <a:off x="2459736" y="1600200"/>
            <a:ext cx="0" cy="228600"/>
          </a:xfrm>
          <a:prstGeom prst="line">
            <a:avLst/>
          </a:prstGeom>
          <a:noFill/>
          <a:ln w="22225">
            <a:solidFill>
              <a:schemeClr val="accent2"/>
            </a:solidFill>
            <a:prstDash val="solid"/>
            <a:tailEnd type="triangle"/>
          </a:ln>
        </p:spPr>
      </p:sp>
      <p:sp>
        <p:nvSpPr>
          <p:cNvPr id="17" name="Text 15"/>
          <p:cNvSpPr txBox="1"/>
          <p:nvPr/>
        </p:nvSpPr>
        <p:spPr>
          <a:xfrm>
            <a:off x="1828800" y="1280160"/>
            <a:ext cx="3474720" cy="274320"/>
          </a:xfrm>
          <a:prstGeom prst="rect">
            <a:avLst/>
          </a:prstGeom>
          <a:noFill/>
          <a:ln/>
        </p:spPr>
        <p:txBody>
          <a:bodyPr wrap="square" lIns="0" tIns="0" rIns="0" bIns="0" rtlCol="0" anchor="t"/>
          <a:lstStyle/>
          <a:p>
            <a:pPr algn="ctr" indent="0" marL="0">
              <a:buNone/>
            </a:pPr>
            <a:r>
              <a:rPr lang="en-US" sz="1200" i="1" dirty="0">
                <a:solidFill>
                  <a:schemeClr val="tx1"/>
                </a:solidFill>
              </a:rPr>
              <a:t>Rejected: retry with robust parser</a:t>
            </a:r>
            <a:endParaRPr lang="en-US" sz="1200" dirty="0"/>
          </a:p>
        </p:txBody>
      </p:sp>
      <p:sp>
        <p:nvSpPr>
          <p:cNvPr id="18" name="Shape 16"/>
          <p:cNvSpPr/>
          <p:nvPr/>
        </p:nvSpPr>
        <p:spPr>
          <a:xfrm>
            <a:off x="8092440" y="2743200"/>
            <a:ext cx="0" cy="457200"/>
          </a:xfrm>
          <a:prstGeom prst="line">
            <a:avLst/>
          </a:prstGeom>
          <a:noFill/>
          <a:ln w="22225">
            <a:solidFill>
              <a:schemeClr val="accent5"/>
            </a:solidFill>
            <a:prstDash val="solid"/>
            <a:tailEnd type="triangle"/>
          </a:ln>
        </p:spPr>
      </p:sp>
      <p:sp>
        <p:nvSpPr>
          <p:cNvPr id="19" name="outcome"/>
          <p:cNvSpPr/>
          <p:nvPr/>
        </p:nvSpPr>
        <p:spPr>
          <a:xfrm>
            <a:off x="457200" y="3291840"/>
            <a:ext cx="2651760" cy="1188720"/>
          </a:xfrm>
          <a:prstGeom prst="roundRect">
            <a:avLst>
              <a:gd name="adj" fmla="val 6154"/>
            </a:avLst>
          </a:prstGeom>
          <a:solidFill>
            <a:schemeClr val="accent1"/>
          </a:solidFill>
          <a:ln/>
        </p:spPr>
      </p:sp>
      <p:sp>
        <p:nvSpPr>
          <p:cNvPr id="20" name="Text 18"/>
          <p:cNvSpPr txBox="1"/>
          <p:nvPr/>
        </p:nvSpPr>
        <p:spPr>
          <a:xfrm>
            <a:off x="594360" y="3401568"/>
            <a:ext cx="2377440" cy="274320"/>
          </a:xfrm>
          <a:prstGeom prst="rect">
            <a:avLst/>
          </a:prstGeom>
          <a:noFill/>
          <a:ln/>
        </p:spPr>
        <p:txBody>
          <a:bodyPr wrap="square" lIns="0" tIns="0" rIns="0" bIns="0" rtlCol="0" anchor="t"/>
          <a:lstStyle/>
          <a:p>
            <a:pPr indent="0" marL="0">
              <a:buNone/>
            </a:pPr>
            <a:r>
              <a:rPr lang="en-US" sz="1600" b="1" dirty="0">
                <a:solidFill>
                  <a:schemeClr val="bg1"/>
                </a:solidFill>
              </a:rPr>
              <a:t>Approved</a:t>
            </a:r>
            <a:endParaRPr lang="en-US" sz="1600" dirty="0"/>
          </a:p>
        </p:txBody>
      </p:sp>
      <p:sp>
        <p:nvSpPr>
          <p:cNvPr id="21" name="Text 19"/>
          <p:cNvSpPr txBox="1"/>
          <p:nvPr/>
        </p:nvSpPr>
        <p:spPr>
          <a:xfrm>
            <a:off x="594360" y="3730752"/>
            <a:ext cx="2377440" cy="685800"/>
          </a:xfrm>
          <a:prstGeom prst="rect">
            <a:avLst/>
          </a:prstGeom>
          <a:noFill/>
          <a:ln/>
        </p:spPr>
        <p:txBody>
          <a:bodyPr wrap="square" lIns="0" tIns="0" rIns="0" bIns="0" rtlCol="0" anchor="t"/>
          <a:lstStyle/>
          <a:p>
            <a:pPr indent="0" marL="0">
              <a:buNone/>
            </a:pPr>
            <a:r>
              <a:rPr lang="en-US" sz="1300" dirty="0">
                <a:solidFill>
                  <a:schemeClr val="bg1"/>
                </a:solidFill>
              </a:rPr>
              <a:t>No issues. Safe to pay.</a:t>
            </a:r>
            <a:endParaRPr lang="en-US" sz="1300" dirty="0"/>
          </a:p>
        </p:txBody>
      </p:sp>
      <p:sp>
        <p:nvSpPr>
          <p:cNvPr id="22" name="outcome"/>
          <p:cNvSpPr/>
          <p:nvPr/>
        </p:nvSpPr>
        <p:spPr>
          <a:xfrm>
            <a:off x="3246120" y="3291840"/>
            <a:ext cx="2651760" cy="1188720"/>
          </a:xfrm>
          <a:prstGeom prst="roundRect">
            <a:avLst>
              <a:gd name="adj" fmla="val 6154"/>
            </a:avLst>
          </a:prstGeom>
          <a:solidFill>
            <a:schemeClr val="accent2"/>
          </a:solidFill>
          <a:ln/>
        </p:spPr>
      </p:sp>
      <p:sp>
        <p:nvSpPr>
          <p:cNvPr id="23" name="Text 21"/>
          <p:cNvSpPr txBox="1"/>
          <p:nvPr/>
        </p:nvSpPr>
        <p:spPr>
          <a:xfrm>
            <a:off x="3383280" y="3401568"/>
            <a:ext cx="2377440" cy="274320"/>
          </a:xfrm>
          <a:prstGeom prst="rect">
            <a:avLst/>
          </a:prstGeom>
          <a:noFill/>
          <a:ln/>
        </p:spPr>
        <p:txBody>
          <a:bodyPr wrap="square" lIns="0" tIns="0" rIns="0" bIns="0" rtlCol="0" anchor="t"/>
          <a:lstStyle/>
          <a:p>
            <a:pPr indent="0" marL="0">
              <a:buNone/>
            </a:pPr>
            <a:r>
              <a:rPr lang="en-US" sz="1600" b="1" dirty="0">
                <a:solidFill>
                  <a:schemeClr val="tx1"/>
                </a:solidFill>
              </a:rPr>
              <a:t>Hold</a:t>
            </a:r>
            <a:endParaRPr lang="en-US" sz="1600" dirty="0"/>
          </a:p>
        </p:txBody>
      </p:sp>
      <p:sp>
        <p:nvSpPr>
          <p:cNvPr id="24" name="Text 22"/>
          <p:cNvSpPr txBox="1"/>
          <p:nvPr/>
        </p:nvSpPr>
        <p:spPr>
          <a:xfrm>
            <a:off x="3383280" y="3730752"/>
            <a:ext cx="2377440" cy="685800"/>
          </a:xfrm>
          <a:prstGeom prst="rect">
            <a:avLst/>
          </a:prstGeom>
          <a:noFill/>
          <a:ln/>
        </p:spPr>
        <p:txBody>
          <a:bodyPr wrap="square" lIns="0" tIns="0" rIns="0" bIns="0" rtlCol="0" anchor="t"/>
          <a:lstStyle/>
          <a:p>
            <a:pPr indent="0" marL="0">
              <a:buNone/>
            </a:pPr>
            <a:r>
              <a:rPr lang="en-US" sz="1300" dirty="0">
                <a:solidFill>
                  <a:schemeClr val="tx1"/>
                </a:solidFill>
              </a:rPr>
              <a:t>Low-value mismatch. Vendor corrects it.</a:t>
            </a:r>
            <a:endParaRPr lang="en-US" sz="1300" dirty="0"/>
          </a:p>
        </p:txBody>
      </p:sp>
      <p:sp>
        <p:nvSpPr>
          <p:cNvPr id="25" name="outcome"/>
          <p:cNvSpPr/>
          <p:nvPr/>
        </p:nvSpPr>
        <p:spPr>
          <a:xfrm>
            <a:off x="6035040" y="3291840"/>
            <a:ext cx="2651760" cy="1188720"/>
          </a:xfrm>
          <a:prstGeom prst="roundRect">
            <a:avLst>
              <a:gd name="adj" fmla="val 6154"/>
            </a:avLst>
          </a:prstGeom>
          <a:solidFill>
            <a:schemeClr val="accent3"/>
          </a:solidFill>
          <a:ln/>
        </p:spPr>
      </p:sp>
      <p:sp>
        <p:nvSpPr>
          <p:cNvPr id="26" name="Text 24"/>
          <p:cNvSpPr txBox="1"/>
          <p:nvPr/>
        </p:nvSpPr>
        <p:spPr>
          <a:xfrm>
            <a:off x="6172200" y="3401568"/>
            <a:ext cx="2377440" cy="274320"/>
          </a:xfrm>
          <a:prstGeom prst="rect">
            <a:avLst/>
          </a:prstGeom>
          <a:noFill/>
          <a:ln/>
        </p:spPr>
        <p:txBody>
          <a:bodyPr wrap="square" lIns="0" tIns="0" rIns="0" bIns="0" rtlCol="0" anchor="t"/>
          <a:lstStyle/>
          <a:p>
            <a:pPr indent="0" marL="0">
              <a:buNone/>
            </a:pPr>
            <a:r>
              <a:rPr lang="en-US" sz="1600" b="1" dirty="0">
                <a:solidFill>
                  <a:schemeClr val="bg1"/>
                </a:solidFill>
              </a:rPr>
              <a:t>Escalated</a:t>
            </a:r>
            <a:endParaRPr lang="en-US" sz="1600" dirty="0"/>
          </a:p>
        </p:txBody>
      </p:sp>
      <p:sp>
        <p:nvSpPr>
          <p:cNvPr id="27" name="Text 25"/>
          <p:cNvSpPr txBox="1"/>
          <p:nvPr/>
        </p:nvSpPr>
        <p:spPr>
          <a:xfrm>
            <a:off x="6172200" y="3730752"/>
            <a:ext cx="2377440" cy="685800"/>
          </a:xfrm>
          <a:prstGeom prst="rect">
            <a:avLst/>
          </a:prstGeom>
          <a:noFill/>
          <a:ln/>
        </p:spPr>
        <p:txBody>
          <a:bodyPr wrap="square" lIns="0" tIns="0" rIns="0" bIns="0" rtlCol="0" anchor="t"/>
          <a:lstStyle/>
          <a:p>
            <a:pPr indent="0" marL="0">
              <a:buNone/>
            </a:pPr>
            <a:r>
              <a:rPr lang="en-US" sz="1300" dirty="0">
                <a:solidFill>
                  <a:schemeClr val="bg1"/>
                </a:solidFill>
              </a:rPr>
              <a:t>Duplicate, unknown vendor or INR 10,000+ at risk. A human reviews.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layer ui"/>
          <p:cNvSpPr/>
          <p:nvPr/>
        </p:nvSpPr>
        <p:spPr>
          <a:xfrm>
            <a:off x="457200" y="1188720"/>
            <a:ext cx="5486400" cy="685800"/>
          </a:xfrm>
          <a:prstGeom prst="roundRect">
            <a:avLst>
              <a:gd name="adj" fmla="val 10667"/>
            </a:avLst>
          </a:prstGeom>
          <a:solidFill>
            <a:schemeClr val="accent4"/>
          </a:solidFill>
          <a:ln/>
        </p:spPr>
      </p:sp>
      <p:sp>
        <p:nvSpPr>
          <p:cNvPr id="4" name="Text 2"/>
          <p:cNvSpPr txBox="1"/>
          <p:nvPr/>
        </p:nvSpPr>
        <p:spPr>
          <a:xfrm>
            <a:off x="640080" y="1243584"/>
            <a:ext cx="5120640" cy="576072"/>
          </a:xfrm>
          <a:prstGeom prst="rect">
            <a:avLst/>
          </a:prstGeom>
          <a:noFill/>
          <a:ln/>
        </p:spPr>
        <p:txBody>
          <a:bodyPr wrap="square" lIns="0" tIns="0" rIns="0" bIns="0" rtlCol="0" anchor="ctr"/>
          <a:lstStyle/>
          <a:p>
            <a:pPr indent="0" marL="0">
              <a:buNone/>
            </a:pPr>
            <a:r>
              <a:rPr lang="en-US" sz="1500" b="1" dirty="0">
                <a:solidFill>
                  <a:schemeClr val="bg1"/>
                </a:solidFill>
              </a:rPr>
              <a:t>Streamlit UI</a:t>
            </a:r>
            <a:endParaRPr lang="en-US" sz="1500" dirty="0"/>
          </a:p>
          <a:p>
            <a:pPr indent="0" marL="0">
              <a:buNone/>
            </a:pPr>
            <a:r>
              <a:rPr lang="en-US" sz="1200" dirty="0">
                <a:solidFill>
                  <a:schemeClr val="bg1"/>
                </a:solidFill>
              </a:rPr>
              <a:t>controls, live agent trace, results dashboard</a:t>
            </a:r>
            <a:endParaRPr lang="en-US" sz="1500" dirty="0"/>
          </a:p>
        </p:txBody>
      </p:sp>
      <p:sp>
        <p:nvSpPr>
          <p:cNvPr id="5" name="layer graph"/>
          <p:cNvSpPr/>
          <p:nvPr/>
        </p:nvSpPr>
        <p:spPr>
          <a:xfrm>
            <a:off x="457200" y="2011680"/>
            <a:ext cx="5486400" cy="685800"/>
          </a:xfrm>
          <a:prstGeom prst="roundRect">
            <a:avLst>
              <a:gd name="adj" fmla="val 10667"/>
            </a:avLst>
          </a:prstGeom>
          <a:solidFill>
            <a:schemeClr val="accent1"/>
          </a:solidFill>
          <a:ln/>
        </p:spPr>
      </p:sp>
      <p:sp>
        <p:nvSpPr>
          <p:cNvPr id="6" name="Text 4"/>
          <p:cNvSpPr txBox="1"/>
          <p:nvPr/>
        </p:nvSpPr>
        <p:spPr>
          <a:xfrm>
            <a:off x="640080" y="2066544"/>
            <a:ext cx="5120640" cy="576072"/>
          </a:xfrm>
          <a:prstGeom prst="rect">
            <a:avLst/>
          </a:prstGeom>
          <a:noFill/>
          <a:ln/>
        </p:spPr>
        <p:txBody>
          <a:bodyPr wrap="square" lIns="0" tIns="0" rIns="0" bIns="0" rtlCol="0" anchor="ctr"/>
          <a:lstStyle/>
          <a:p>
            <a:pPr indent="0" marL="0">
              <a:buNone/>
            </a:pPr>
            <a:r>
              <a:rPr lang="en-US" sz="1500" b="1" dirty="0">
                <a:solidFill>
                  <a:schemeClr val="bg1"/>
                </a:solidFill>
              </a:rPr>
              <a:t>LangGraph state graph</a:t>
            </a:r>
            <a:endParaRPr lang="en-US" sz="1500" dirty="0"/>
          </a:p>
          <a:p>
            <a:pPr indent="0" marL="0">
              <a:buNone/>
            </a:pPr>
            <a:r>
              <a:rPr lang="en-US" sz="1200" dirty="0">
                <a:solidFill>
                  <a:schemeClr val="bg1"/>
                </a:solidFill>
              </a:rPr>
              <a:t>shared state, conditional retry edge, plain-Python fallback</a:t>
            </a:r>
            <a:endParaRPr lang="en-US" sz="1500" dirty="0"/>
          </a:p>
        </p:txBody>
      </p:sp>
      <p:sp>
        <p:nvSpPr>
          <p:cNvPr id="7" name="layer agents"/>
          <p:cNvSpPr/>
          <p:nvPr/>
        </p:nvSpPr>
        <p:spPr>
          <a:xfrm>
            <a:off x="457200" y="2834640"/>
            <a:ext cx="5486400" cy="914400"/>
          </a:xfrm>
          <a:prstGeom prst="roundRect">
            <a:avLst>
              <a:gd name="adj" fmla="val 8000"/>
            </a:avLst>
          </a:prstGeom>
          <a:solidFill>
            <a:schemeClr val="bg2"/>
          </a:solidFill>
          <a:ln/>
        </p:spPr>
      </p:sp>
      <p:sp>
        <p:nvSpPr>
          <p:cNvPr id="8" name="Text 6"/>
          <p:cNvSpPr txBox="1"/>
          <p:nvPr/>
        </p:nvSpPr>
        <p:spPr>
          <a:xfrm>
            <a:off x="640080" y="2898648"/>
            <a:ext cx="1828800" cy="228600"/>
          </a:xfrm>
          <a:prstGeom prst="rect">
            <a:avLst/>
          </a:prstGeom>
          <a:noFill/>
          <a:ln/>
        </p:spPr>
        <p:txBody>
          <a:bodyPr wrap="square" lIns="0" tIns="0" rIns="0" bIns="0" rtlCol="0" anchor="t"/>
          <a:lstStyle/>
          <a:p>
            <a:pPr indent="0" marL="0">
              <a:buNone/>
            </a:pPr>
            <a:r>
              <a:rPr lang="en-US" sz="1200" b="1" dirty="0">
                <a:solidFill>
                  <a:schemeClr val="tx2"/>
                </a:solidFill>
              </a:rPr>
              <a:t>Agents</a:t>
            </a:r>
            <a:endParaRPr lang="en-US" sz="1200" dirty="0"/>
          </a:p>
        </p:txBody>
      </p:sp>
      <p:sp>
        <p:nvSpPr>
          <p:cNvPr id="9" name="agent chip"/>
          <p:cNvSpPr txBox="1"/>
          <p:nvPr/>
        </p:nvSpPr>
        <p:spPr>
          <a:xfrm>
            <a:off x="594360" y="3200400"/>
            <a:ext cx="950976"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100" b="1" dirty="0">
                <a:solidFill>
                  <a:schemeClr val="bg1"/>
                </a:solidFill>
              </a:rPr>
              <a:t>Planner</a:t>
            </a:r>
            <a:endParaRPr lang="en-US" sz="1100" dirty="0"/>
          </a:p>
        </p:txBody>
      </p:sp>
      <p:sp>
        <p:nvSpPr>
          <p:cNvPr id="10" name="agent chip"/>
          <p:cNvSpPr txBox="1"/>
          <p:nvPr/>
        </p:nvSpPr>
        <p:spPr>
          <a:xfrm>
            <a:off x="1636776" y="3200400"/>
            <a:ext cx="950976"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100" b="1" dirty="0">
                <a:solidFill>
                  <a:schemeClr val="bg1"/>
                </a:solidFill>
              </a:rPr>
              <a:t>Extraction</a:t>
            </a:r>
            <a:endParaRPr lang="en-US" sz="1100" dirty="0"/>
          </a:p>
        </p:txBody>
      </p:sp>
      <p:sp>
        <p:nvSpPr>
          <p:cNvPr id="11" name="agent chip"/>
          <p:cNvSpPr txBox="1"/>
          <p:nvPr/>
        </p:nvSpPr>
        <p:spPr>
          <a:xfrm>
            <a:off x="2679192" y="3200400"/>
            <a:ext cx="950976" cy="411480"/>
          </a:xfrm>
          <a:prstGeom prst="roundRect">
            <a:avLst>
              <a:gd name="adj" fmla="val 13333"/>
            </a:avLst>
          </a:prstGeom>
          <a:solidFill>
            <a:schemeClr val="accent2"/>
          </a:solidFill>
          <a:ln/>
        </p:spPr>
        <p:txBody>
          <a:bodyPr wrap="square" lIns="254" tIns="254" rIns="254" bIns="254" rtlCol="0" anchor="ctr"/>
          <a:lstStyle/>
          <a:p>
            <a:pPr algn="ctr" indent="0" marL="0">
              <a:buNone/>
            </a:pPr>
            <a:r>
              <a:rPr lang="en-US" sz="1100" b="1" dirty="0">
                <a:solidFill>
                  <a:schemeClr val="tx1"/>
                </a:solidFill>
              </a:rPr>
              <a:t>Critic</a:t>
            </a:r>
            <a:endParaRPr lang="en-US" sz="1100" dirty="0"/>
          </a:p>
        </p:txBody>
      </p:sp>
      <p:sp>
        <p:nvSpPr>
          <p:cNvPr id="12" name="agent chip"/>
          <p:cNvSpPr txBox="1"/>
          <p:nvPr/>
        </p:nvSpPr>
        <p:spPr>
          <a:xfrm>
            <a:off x="3721608" y="3200400"/>
            <a:ext cx="950976"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100" b="1" dirty="0">
                <a:solidFill>
                  <a:schemeClr val="bg1"/>
                </a:solidFill>
              </a:rPr>
              <a:t>Matching</a:t>
            </a:r>
            <a:endParaRPr lang="en-US" sz="1100" dirty="0"/>
          </a:p>
        </p:txBody>
      </p:sp>
      <p:sp>
        <p:nvSpPr>
          <p:cNvPr id="13" name="agent chip"/>
          <p:cNvSpPr txBox="1"/>
          <p:nvPr/>
        </p:nvSpPr>
        <p:spPr>
          <a:xfrm>
            <a:off x="4764024" y="3200400"/>
            <a:ext cx="950976"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100" b="1" dirty="0">
                <a:solidFill>
                  <a:schemeClr val="bg1"/>
                </a:solidFill>
              </a:rPr>
              <a:t>Decision</a:t>
            </a:r>
            <a:endParaRPr lang="en-US" sz="1100" dirty="0"/>
          </a:p>
        </p:txBody>
      </p:sp>
      <p:sp>
        <p:nvSpPr>
          <p:cNvPr id="14" name="layer data"/>
          <p:cNvSpPr/>
          <p:nvPr/>
        </p:nvSpPr>
        <p:spPr>
          <a:xfrm>
            <a:off x="457200" y="3886200"/>
            <a:ext cx="3291840" cy="822960"/>
          </a:xfrm>
          <a:prstGeom prst="roundRect">
            <a:avLst>
              <a:gd name="adj" fmla="val 8889"/>
            </a:avLst>
          </a:prstGeom>
          <a:solidFill>
            <a:schemeClr val="bg2"/>
          </a:solidFill>
          <a:ln/>
        </p:spPr>
      </p:sp>
      <p:sp>
        <p:nvSpPr>
          <p:cNvPr id="15" name="Text 13"/>
          <p:cNvSpPr txBox="1"/>
          <p:nvPr/>
        </p:nvSpPr>
        <p:spPr>
          <a:xfrm>
            <a:off x="594360" y="3931920"/>
            <a:ext cx="3017520" cy="731520"/>
          </a:xfrm>
          <a:prstGeom prst="rect">
            <a:avLst/>
          </a:prstGeom>
          <a:noFill/>
          <a:ln/>
        </p:spPr>
        <p:txBody>
          <a:bodyPr wrap="square" lIns="0" tIns="0" rIns="0" bIns="0" rtlCol="0" anchor="ctr"/>
          <a:lstStyle/>
          <a:p>
            <a:pPr indent="0" marL="0">
              <a:buNone/>
            </a:pPr>
            <a:r>
              <a:rPr lang="en-US" sz="1400" b="1" dirty="0">
                <a:solidFill>
                  <a:schemeClr val="tx1"/>
                </a:solidFill>
              </a:rPr>
              <a:t>Tools and data</a:t>
            </a:r>
            <a:endParaRPr lang="en-US" sz="1400" dirty="0"/>
          </a:p>
          <a:p>
            <a:pPr indent="0" marL="0">
              <a:buNone/>
            </a:pPr>
            <a:r>
              <a:rPr lang="en-US" sz="1200" dirty="0">
                <a:solidFill>
                  <a:schemeClr val="tx1"/>
                </a:solidFill>
              </a:rPr>
              <a:t>PO DB, GRN DB, vendor master, duplicate registry, rules</a:t>
            </a:r>
            <a:endParaRPr lang="en-US" sz="1400" dirty="0"/>
          </a:p>
        </p:txBody>
      </p:sp>
      <p:sp>
        <p:nvSpPr>
          <p:cNvPr id="16" name="layer llm"/>
          <p:cNvSpPr/>
          <p:nvPr/>
        </p:nvSpPr>
        <p:spPr>
          <a:xfrm>
            <a:off x="3886200" y="3886200"/>
            <a:ext cx="2057400" cy="822960"/>
          </a:xfrm>
          <a:prstGeom prst="roundRect">
            <a:avLst>
              <a:gd name="adj" fmla="val 8889"/>
            </a:avLst>
          </a:prstGeom>
          <a:solidFill>
            <a:schemeClr val="bg2"/>
          </a:solidFill>
          <a:ln/>
        </p:spPr>
      </p:sp>
      <p:sp>
        <p:nvSpPr>
          <p:cNvPr id="17" name="Text 15"/>
          <p:cNvSpPr txBox="1"/>
          <p:nvPr/>
        </p:nvSpPr>
        <p:spPr>
          <a:xfrm>
            <a:off x="4023360" y="3931920"/>
            <a:ext cx="1828800" cy="731520"/>
          </a:xfrm>
          <a:prstGeom prst="rect">
            <a:avLst/>
          </a:prstGeom>
          <a:noFill/>
          <a:ln/>
        </p:spPr>
        <p:txBody>
          <a:bodyPr wrap="square" lIns="0" tIns="0" rIns="0" bIns="0" rtlCol="0" anchor="ctr"/>
          <a:lstStyle/>
          <a:p>
            <a:pPr indent="0" marL="0">
              <a:buNone/>
            </a:pPr>
            <a:r>
              <a:rPr lang="en-US" sz="1400" b="1" dirty="0">
                <a:solidFill>
                  <a:schemeClr val="tx1"/>
                </a:solidFill>
              </a:rPr>
              <a:t>LLM</a:t>
            </a:r>
            <a:endParaRPr lang="en-US" sz="1400" dirty="0"/>
          </a:p>
          <a:p>
            <a:pPr indent="0" marL="0">
              <a:buNone/>
            </a:pPr>
            <a:r>
              <a:rPr lang="en-US" sz="1200" dirty="0">
                <a:solidFill>
                  <a:schemeClr val="tx1"/>
                </a:solidFill>
              </a:rPr>
              <a:t>Ollama local model or mock</a:t>
            </a:r>
            <a:endParaRPr lang="en-US" sz="1400" dirty="0"/>
          </a:p>
        </p:txBody>
      </p:sp>
      <p:sp>
        <p:nvSpPr>
          <p:cNvPr id="18" name="flow panel"/>
          <p:cNvSpPr/>
          <p:nvPr/>
        </p:nvSpPr>
        <p:spPr>
          <a:xfrm>
            <a:off x="6263640" y="1188720"/>
            <a:ext cx="2423160" cy="3520440"/>
          </a:xfrm>
          <a:prstGeom prst="roundRect">
            <a:avLst>
              <a:gd name="adj" fmla="val 3019"/>
            </a:avLst>
          </a:prstGeom>
          <a:solidFill>
            <a:schemeClr val="bg2"/>
          </a:solidFill>
          <a:ln/>
        </p:spPr>
      </p:sp>
      <p:sp>
        <p:nvSpPr>
          <p:cNvPr id="19" name="Text 17"/>
          <p:cNvSpPr txBox="1"/>
          <p:nvPr/>
        </p:nvSpPr>
        <p:spPr>
          <a:xfrm>
            <a:off x="6446520" y="1325880"/>
            <a:ext cx="2103120" cy="365760"/>
          </a:xfrm>
          <a:prstGeom prst="rect">
            <a:avLst/>
          </a:prstGeom>
          <a:noFill/>
          <a:ln/>
        </p:spPr>
        <p:txBody>
          <a:bodyPr wrap="square" lIns="0" tIns="0" rIns="0" bIns="0" rtlCol="0" anchor="t"/>
          <a:lstStyle/>
          <a:p>
            <a:pPr indent="0" marL="0">
              <a:buNone/>
            </a:pPr>
            <a:r>
              <a:rPr lang="en-US" sz="1800" b="1" dirty="0">
                <a:solidFill>
                  <a:schemeClr val="tx2"/>
                </a:solidFill>
              </a:rPr>
              <a:t>Data flow</a:t>
            </a:r>
            <a:endParaRPr lang="en-US" sz="1800" dirty="0"/>
          </a:p>
        </p:txBody>
      </p:sp>
      <p:sp>
        <p:nvSpPr>
          <p:cNvPr id="20" name="Text 18"/>
          <p:cNvSpPr txBox="1"/>
          <p:nvPr/>
        </p:nvSpPr>
        <p:spPr>
          <a:xfrm>
            <a:off x="6446520" y="1828800"/>
            <a:ext cx="2103120" cy="26517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00" dirty="0">
                <a:solidFill>
                  <a:schemeClr val="tx1"/>
                </a:solidFill>
              </a:rPr>
              <a:t>Batch enters the UI</a:t>
            </a:r>
            <a:endParaRPr lang="en-US" sz="1400" dirty="0"/>
          </a:p>
          <a:p>
            <a:pPr marL="342900" indent="-342900">
              <a:spcAft>
                <a:spcPts val="1000"/>
              </a:spcAft>
              <a:buSzPct val="100000"/>
              <a:buFont typeface="+mj-lt"/>
              <a:buAutoNum type="arabicPeriod" startAt="1"/>
            </a:pPr>
            <a:r>
              <a:rPr lang="en-US" sz="1400" dirty="0">
                <a:solidFill>
                  <a:schemeClr val="tx1"/>
                </a:solidFill>
              </a:rPr>
              <a:t>Graph passes shared state</a:t>
            </a:r>
            <a:endParaRPr lang="en-US" sz="1400" dirty="0"/>
          </a:p>
          <a:p>
            <a:pPr marL="342900" indent="-342900">
              <a:spcAft>
                <a:spcPts val="1000"/>
              </a:spcAft>
              <a:buSzPct val="100000"/>
              <a:buFont typeface="+mj-lt"/>
              <a:buAutoNum type="arabicPeriod" startAt="1"/>
            </a:pPr>
            <a:r>
              <a:rPr lang="en-US" sz="1400" dirty="0">
                <a:solidFill>
                  <a:schemeClr val="tx1"/>
                </a:solidFill>
              </a:rPr>
              <a:t>Agents call tools and data</a:t>
            </a:r>
            <a:endParaRPr lang="en-US" sz="1400" dirty="0"/>
          </a:p>
          <a:p>
            <a:pPr marL="342900" indent="-342900">
              <a:spcAft>
                <a:spcPts val="1000"/>
              </a:spcAft>
              <a:buSzPct val="100000"/>
              <a:buFont typeface="+mj-lt"/>
              <a:buAutoNum type="arabicPeriod" startAt="1"/>
            </a:pPr>
            <a:r>
              <a:rPr lang="en-US" sz="1400" dirty="0">
                <a:solidFill>
                  <a:schemeClr val="tx1"/>
                </a:solidFill>
              </a:rPr>
              <a:t>Decision returns to the UI</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Demo walkthrough</a:t>
            </a:r>
            <a:endParaRPr lang="en-US" sz="3400" dirty="0"/>
          </a:p>
        </p:txBody>
      </p:sp>
      <p:sp>
        <p:nvSpPr>
          <p:cNvPr id="3" name="step card"/>
          <p:cNvSpPr/>
          <p:nvPr/>
        </p:nvSpPr>
        <p:spPr>
          <a:xfrm>
            <a:off x="457200" y="1188720"/>
            <a:ext cx="1920240" cy="1371600"/>
          </a:xfrm>
          <a:prstGeom prst="roundRect">
            <a:avLst>
              <a:gd name="adj" fmla="val 5333"/>
            </a:avLst>
          </a:prstGeom>
          <a:solidFill>
            <a:schemeClr val="bg2"/>
          </a:solidFill>
          <a:ln/>
        </p:spPr>
      </p:sp>
      <p:sp>
        <p:nvSpPr>
          <p:cNvPr id="4" name="badge"/>
          <p:cNvSpPr/>
          <p:nvPr/>
        </p:nvSpPr>
        <p:spPr>
          <a:xfrm>
            <a:off x="594360" y="1325880"/>
            <a:ext cx="347472" cy="347472"/>
          </a:xfrm>
          <a:prstGeom prst="ellipse">
            <a:avLst/>
          </a:prstGeom>
          <a:solidFill>
            <a:schemeClr val="accent1"/>
          </a:solidFill>
          <a:ln/>
        </p:spPr>
      </p:sp>
      <p:sp>
        <p:nvSpPr>
          <p:cNvPr id="5" name="Text 3"/>
          <p:cNvSpPr txBox="1"/>
          <p:nvPr/>
        </p:nvSpPr>
        <p:spPr>
          <a:xfrm>
            <a:off x="59436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5156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Generate batch</a:t>
            </a:r>
            <a:endParaRPr lang="en-US" sz="1400" dirty="0"/>
          </a:p>
        </p:txBody>
      </p:sp>
      <p:sp>
        <p:nvSpPr>
          <p:cNvPr id="7" name="Text 5"/>
          <p:cNvSpPr txBox="1"/>
          <p:nvPr/>
        </p:nvSpPr>
        <p:spPr>
          <a:xfrm>
            <a:off x="59436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24 synthetic invoices, 8 with seeded errors</a:t>
            </a:r>
            <a:endParaRPr lang="en-US" sz="1200" dirty="0"/>
          </a:p>
        </p:txBody>
      </p:sp>
      <p:sp>
        <p:nvSpPr>
          <p:cNvPr id="8" name="step card"/>
          <p:cNvSpPr/>
          <p:nvPr/>
        </p:nvSpPr>
        <p:spPr>
          <a:xfrm>
            <a:off x="2560320" y="1188720"/>
            <a:ext cx="1920240" cy="1371600"/>
          </a:xfrm>
          <a:prstGeom prst="roundRect">
            <a:avLst>
              <a:gd name="adj" fmla="val 5333"/>
            </a:avLst>
          </a:prstGeom>
          <a:solidFill>
            <a:schemeClr val="bg2"/>
          </a:solidFill>
          <a:ln/>
        </p:spPr>
      </p:sp>
      <p:sp>
        <p:nvSpPr>
          <p:cNvPr id="9" name="badge"/>
          <p:cNvSpPr/>
          <p:nvPr/>
        </p:nvSpPr>
        <p:spPr>
          <a:xfrm>
            <a:off x="2697480" y="1325880"/>
            <a:ext cx="347472" cy="347472"/>
          </a:xfrm>
          <a:prstGeom prst="ellipse">
            <a:avLst/>
          </a:prstGeom>
          <a:solidFill>
            <a:schemeClr val="accent1"/>
          </a:solidFill>
          <a:ln/>
        </p:spPr>
      </p:sp>
      <p:sp>
        <p:nvSpPr>
          <p:cNvPr id="10" name="Text 8"/>
          <p:cNvSpPr txBox="1"/>
          <p:nvPr/>
        </p:nvSpPr>
        <p:spPr>
          <a:xfrm>
            <a:off x="269748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315468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Run agents</a:t>
            </a:r>
            <a:endParaRPr lang="en-US" sz="1400" dirty="0"/>
          </a:p>
        </p:txBody>
      </p:sp>
      <p:sp>
        <p:nvSpPr>
          <p:cNvPr id="12" name="Text 10"/>
          <p:cNvSpPr txBox="1"/>
          <p:nvPr/>
        </p:nvSpPr>
        <p:spPr>
          <a:xfrm>
            <a:off x="269748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Watch each agent step live</a:t>
            </a:r>
            <a:endParaRPr lang="en-US" sz="1200" dirty="0"/>
          </a:p>
        </p:txBody>
      </p:sp>
      <p:sp>
        <p:nvSpPr>
          <p:cNvPr id="13" name="step card"/>
          <p:cNvSpPr/>
          <p:nvPr/>
        </p:nvSpPr>
        <p:spPr>
          <a:xfrm>
            <a:off x="4663440" y="1188720"/>
            <a:ext cx="1920240" cy="1371600"/>
          </a:xfrm>
          <a:prstGeom prst="roundRect">
            <a:avLst>
              <a:gd name="adj" fmla="val 5333"/>
            </a:avLst>
          </a:prstGeom>
          <a:solidFill>
            <a:schemeClr val="bg2"/>
          </a:solidFill>
          <a:ln/>
        </p:spPr>
      </p:sp>
      <p:sp>
        <p:nvSpPr>
          <p:cNvPr id="14" name="badge"/>
          <p:cNvSpPr/>
          <p:nvPr/>
        </p:nvSpPr>
        <p:spPr>
          <a:xfrm>
            <a:off x="4800600" y="1325880"/>
            <a:ext cx="347472" cy="347472"/>
          </a:xfrm>
          <a:prstGeom prst="ellipse">
            <a:avLst/>
          </a:prstGeom>
          <a:solidFill>
            <a:schemeClr val="accent1"/>
          </a:solidFill>
          <a:ln/>
        </p:spPr>
      </p:sp>
      <p:sp>
        <p:nvSpPr>
          <p:cNvPr id="15" name="Text 13"/>
          <p:cNvSpPr txBox="1"/>
          <p:nvPr/>
        </p:nvSpPr>
        <p:spPr>
          <a:xfrm>
            <a:off x="480060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525780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Review decisions</a:t>
            </a:r>
            <a:endParaRPr lang="en-US" sz="1400" dirty="0"/>
          </a:p>
        </p:txBody>
      </p:sp>
      <p:sp>
        <p:nvSpPr>
          <p:cNvPr id="17" name="Text 15"/>
          <p:cNvSpPr txBox="1"/>
          <p:nvPr/>
        </p:nvSpPr>
        <p:spPr>
          <a:xfrm>
            <a:off x="480060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Approved, held or escalated, colour-coded</a:t>
            </a:r>
            <a:endParaRPr lang="en-US" sz="1200" dirty="0"/>
          </a:p>
        </p:txBody>
      </p:sp>
      <p:sp>
        <p:nvSpPr>
          <p:cNvPr id="18" name="step card"/>
          <p:cNvSpPr/>
          <p:nvPr/>
        </p:nvSpPr>
        <p:spPr>
          <a:xfrm>
            <a:off x="6766560" y="1188720"/>
            <a:ext cx="1920240" cy="1371600"/>
          </a:xfrm>
          <a:prstGeom prst="roundRect">
            <a:avLst>
              <a:gd name="adj" fmla="val 5333"/>
            </a:avLst>
          </a:prstGeom>
          <a:solidFill>
            <a:schemeClr val="bg2"/>
          </a:solidFill>
          <a:ln/>
        </p:spPr>
      </p:sp>
      <p:sp>
        <p:nvSpPr>
          <p:cNvPr id="19" name="badge"/>
          <p:cNvSpPr/>
          <p:nvPr/>
        </p:nvSpPr>
        <p:spPr>
          <a:xfrm>
            <a:off x="6903720" y="1325880"/>
            <a:ext cx="347472" cy="347472"/>
          </a:xfrm>
          <a:prstGeom prst="ellipse">
            <a:avLst/>
          </a:prstGeom>
          <a:solidFill>
            <a:schemeClr val="accent1"/>
          </a:solidFill>
          <a:ln/>
        </p:spPr>
      </p:sp>
      <p:sp>
        <p:nvSpPr>
          <p:cNvPr id="20" name="Text 18"/>
          <p:cNvSpPr txBox="1"/>
          <p:nvPr/>
        </p:nvSpPr>
        <p:spPr>
          <a:xfrm>
            <a:off x="69037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736092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Inspect</a:t>
            </a:r>
            <a:endParaRPr lang="en-US" sz="1400" dirty="0"/>
          </a:p>
        </p:txBody>
      </p:sp>
      <p:sp>
        <p:nvSpPr>
          <p:cNvPr id="22" name="Text 20"/>
          <p:cNvSpPr txBox="1"/>
          <p:nvPr/>
        </p:nvSpPr>
        <p:spPr>
          <a:xfrm>
            <a:off x="690372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Raw invoice, trace, reason and metrics</a:t>
            </a:r>
            <a:endParaRPr lang="en-US" sz="1200" dirty="0"/>
          </a:p>
        </p:txBody>
      </p:sp>
      <p:sp>
        <p:nvSpPr>
          <p:cNvPr id="23" name="Text 21"/>
          <p:cNvSpPr txBox="1"/>
          <p:nvPr/>
        </p:nvSpPr>
        <p:spPr>
          <a:xfrm>
            <a:off x="457200" y="2697480"/>
            <a:ext cx="8229600" cy="274320"/>
          </a:xfrm>
          <a:prstGeom prst="rect">
            <a:avLst/>
          </a:prstGeom>
          <a:noFill/>
          <a:ln/>
        </p:spPr>
        <p:txBody>
          <a:bodyPr wrap="square" lIns="0" tIns="0" rIns="0" bIns="0" rtlCol="0" anchor="t"/>
          <a:lstStyle/>
          <a:p>
            <a:pPr indent="0" marL="0">
              <a:buNone/>
            </a:pPr>
            <a:r>
              <a:rPr lang="en-US" sz="1300" b="1" dirty="0">
                <a:solidFill>
                  <a:schemeClr val="tx2"/>
                </a:solidFill>
              </a:rPr>
              <a:t>Live trace for one invoice (real output)</a:t>
            </a:r>
            <a:endParaRPr lang="en-US" sz="1300" dirty="0"/>
          </a:p>
        </p:txBody>
      </p:sp>
      <p:sp>
        <p:nvSpPr>
          <p:cNvPr id="24" name="trace box"/>
          <p:cNvSpPr/>
          <p:nvPr/>
        </p:nvSpPr>
        <p:spPr>
          <a:xfrm>
            <a:off x="457200" y="3017520"/>
            <a:ext cx="8229600" cy="1645920"/>
          </a:xfrm>
          <a:prstGeom prst="roundRect">
            <a:avLst>
              <a:gd name="adj" fmla="val 4444"/>
            </a:avLst>
          </a:prstGeom>
          <a:solidFill>
            <a:schemeClr val="tx2"/>
          </a:solidFill>
          <a:ln/>
        </p:spPr>
      </p:sp>
      <p:sp>
        <p:nvSpPr>
          <p:cNvPr id="25" name="Text 23"/>
          <p:cNvSpPr txBox="1"/>
          <p:nvPr/>
        </p:nvSpPr>
        <p:spPr>
          <a:xfrm>
            <a:off x="640080" y="3127248"/>
            <a:ext cx="7863840" cy="1417320"/>
          </a:xfrm>
          <a:prstGeom prst="rect">
            <a:avLst/>
          </a:prstGeom>
          <a:noFill/>
          <a:ln/>
        </p:spPr>
        <p:txBody>
          <a:bodyPr wrap="square" lIns="0" tIns="0" rIns="0" bIns="0" rtlCol="0" anchor="ctr"/>
          <a:lstStyle/>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Extraction Agent: attempt 1 via fast parser: INV-7015 | total 34.00</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Critic Agent: extraction REJECTED (qty x unit != amount) -&gt; retry</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Extraction Agent: attempt 2 via robust parser: INV-7015 | total 34,673.17</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Matching Agent: 3-way match done -&gt; 1 issue(s): PRICE_MISMATCH</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Decision Agent: HOLD (low-value mismatch: return to vendor for correction)</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What the validation shows</a:t>
            </a:r>
            <a:endParaRPr lang="en-US" sz="3400" dirty="0"/>
          </a:p>
        </p:txBody>
      </p:sp>
      <p:sp>
        <p:nvSpPr>
          <p:cNvPr id="3" name="stat card"/>
          <p:cNvSpPr/>
          <p:nvPr/>
        </p:nvSpPr>
        <p:spPr>
          <a:xfrm>
            <a:off x="457200" y="1188720"/>
            <a:ext cx="1920240" cy="1874520"/>
          </a:xfrm>
          <a:prstGeom prst="roundRect">
            <a:avLst>
              <a:gd name="adj" fmla="val 3902"/>
            </a:avLst>
          </a:prstGeom>
          <a:solidFill>
            <a:schemeClr val="bg2"/>
          </a:solidFill>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8/8</a:t>
            </a:r>
            <a:endParaRPr lang="en-US" sz="4000" dirty="0"/>
          </a:p>
        </p:txBody>
      </p:sp>
      <p:sp>
        <p:nvSpPr>
          <p:cNvPr id="5" name="Text 3"/>
          <p:cNvSpPr txBox="1"/>
          <p:nvPr/>
        </p:nvSpPr>
        <p:spPr>
          <a:xfrm>
            <a:off x="59436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seeded errors caught</a:t>
            </a:r>
            <a:endParaRPr lang="en-US" sz="1400" dirty="0"/>
          </a:p>
        </p:txBody>
      </p:sp>
      <p:sp>
        <p:nvSpPr>
          <p:cNvPr id="6" name="stat card"/>
          <p:cNvSpPr/>
          <p:nvPr/>
        </p:nvSpPr>
        <p:spPr>
          <a:xfrm>
            <a:off x="2560320" y="1188720"/>
            <a:ext cx="1920240" cy="1874520"/>
          </a:xfrm>
          <a:prstGeom prst="roundRect">
            <a:avLst>
              <a:gd name="adj" fmla="val 3902"/>
            </a:avLst>
          </a:prstGeom>
          <a:solidFill>
            <a:schemeClr val="bg2"/>
          </a:solidFill>
          <a:ln/>
        </p:spPr>
      </p:sp>
      <p:sp>
        <p:nvSpPr>
          <p:cNvPr id="7" name="Text 5"/>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8/8</a:t>
            </a:r>
            <a:endParaRPr lang="en-US" sz="4000" dirty="0"/>
          </a:p>
        </p:txBody>
      </p:sp>
      <p:sp>
        <p:nvSpPr>
          <p:cNvPr id="8" name="Text 6"/>
          <p:cNvSpPr txBox="1"/>
          <p:nvPr/>
        </p:nvSpPr>
        <p:spPr>
          <a:xfrm>
            <a:off x="269748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issue types identified correctly</a:t>
            </a:r>
            <a:endParaRPr lang="en-US" sz="1400" dirty="0"/>
          </a:p>
        </p:txBody>
      </p:sp>
      <p:sp>
        <p:nvSpPr>
          <p:cNvPr id="9" name="stat card"/>
          <p:cNvSpPr/>
          <p:nvPr/>
        </p:nvSpPr>
        <p:spPr>
          <a:xfrm>
            <a:off x="4663440" y="1188720"/>
            <a:ext cx="1920240" cy="1874520"/>
          </a:xfrm>
          <a:prstGeom prst="roundRect">
            <a:avLst>
              <a:gd name="adj" fmla="val 3902"/>
            </a:avLst>
          </a:prstGeom>
          <a:solidFill>
            <a:schemeClr val="bg2"/>
          </a:solidFill>
          <a:ln/>
        </p:spPr>
      </p:sp>
      <p:sp>
        <p:nvSpPr>
          <p:cNvPr id="10" name="Text 8"/>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0/16</a:t>
            </a:r>
            <a:endParaRPr lang="en-US" sz="4000" dirty="0"/>
          </a:p>
        </p:txBody>
      </p:sp>
      <p:sp>
        <p:nvSpPr>
          <p:cNvPr id="11" name="Text 9"/>
          <p:cNvSpPr txBox="1"/>
          <p:nvPr/>
        </p:nvSpPr>
        <p:spPr>
          <a:xfrm>
            <a:off x="480060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clean invoices wrongly flagged</a:t>
            </a:r>
            <a:endParaRPr lang="en-US" sz="1400" dirty="0"/>
          </a:p>
        </p:txBody>
      </p:sp>
      <p:sp>
        <p:nvSpPr>
          <p:cNvPr id="12" name="stat card"/>
          <p:cNvSpPr/>
          <p:nvPr/>
        </p:nvSpPr>
        <p:spPr>
          <a:xfrm>
            <a:off x="6766560" y="1188720"/>
            <a:ext cx="1920240" cy="1874520"/>
          </a:xfrm>
          <a:prstGeom prst="roundRect">
            <a:avLst>
              <a:gd name="adj" fmla="val 3902"/>
            </a:avLst>
          </a:prstGeom>
          <a:solidFill>
            <a:schemeClr val="bg2"/>
          </a:solidFill>
          <a:ln/>
        </p:spPr>
      </p:sp>
      <p:sp>
        <p:nvSpPr>
          <p:cNvPr id="13" name="Text 11"/>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1.77L</a:t>
            </a:r>
            <a:endParaRPr lang="en-US" sz="4000" dirty="0"/>
          </a:p>
        </p:txBody>
      </p:sp>
      <p:sp>
        <p:nvSpPr>
          <p:cNvPr id="14" name="Text 12"/>
          <p:cNvSpPr txBox="1"/>
          <p:nvPr/>
        </p:nvSpPr>
        <p:spPr>
          <a:xfrm>
            <a:off x="690372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INR at risk flagged, equal to the seeded total</a:t>
            </a:r>
            <a:endParaRPr lang="en-US" sz="1400" dirty="0"/>
          </a:p>
        </p:txBody>
      </p:sp>
      <p:sp>
        <p:nvSpPr>
          <p:cNvPr id="15" name="notes panel"/>
          <p:cNvSpPr/>
          <p:nvPr/>
        </p:nvSpPr>
        <p:spPr>
          <a:xfrm>
            <a:off x="457200" y="3291840"/>
            <a:ext cx="8229600" cy="1417320"/>
          </a:xfrm>
          <a:prstGeom prst="roundRect">
            <a:avLst>
              <a:gd name="adj" fmla="val 5161"/>
            </a:avLst>
          </a:prstGeom>
          <a:solidFill>
            <a:schemeClr val="bg2"/>
          </a:solidFill>
          <a:ln/>
        </p:spPr>
      </p:sp>
      <p:sp>
        <p:nvSpPr>
          <p:cNvPr id="16" name="Text 14"/>
          <p:cNvSpPr txBox="1"/>
          <p:nvPr/>
        </p:nvSpPr>
        <p:spPr>
          <a:xfrm>
            <a:off x="685800" y="3383280"/>
            <a:ext cx="7772400" cy="12344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chemeClr val="tx1"/>
                </a:solidFill>
              </a:rPr>
              <a:t>Measured on 24 synthetic invoices: 8 seeded errors and 16 clean.</a:t>
            </a:r>
            <a:endParaRPr lang="en-US" sz="1400" dirty="0"/>
          </a:p>
          <a:p>
            <a:pPr marL="342900" indent="-342900">
              <a:spcAft>
                <a:spcPts val="600"/>
              </a:spcAft>
              <a:buSzPct val="100000"/>
              <a:buChar char="•"/>
            </a:pPr>
            <a:r>
              <a:rPr lang="en-US" sz="1400" dirty="0">
                <a:solidFill>
                  <a:schemeClr val="tx1"/>
                </a:solidFill>
              </a:rPr>
              <a:t>The Critic loop caught misread amounts; the retry fixed them before matching.</a:t>
            </a:r>
            <a:endParaRPr lang="en-US" sz="1400" dirty="0"/>
          </a:p>
          <a:p>
            <a:pPr marL="342900" indent="-342900">
              <a:spcAft>
                <a:spcPts val="600"/>
              </a:spcAft>
              <a:buSzPct val="100000"/>
              <a:buChar char="•"/>
            </a:pPr>
            <a:r>
              <a:rPr lang="en-US" sz="1400" dirty="0">
                <a:solidFill>
                  <a:schemeClr val="tx1"/>
                </a:solidFill>
              </a:rPr>
              <a:t>High scores reflect rule-based matching on known data, not real-world accuracy.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Limits and next steps</a:t>
            </a:r>
            <a:endParaRPr lang="en-US" sz="3400" dirty="0"/>
          </a:p>
        </p:txBody>
      </p:sp>
      <p:sp>
        <p:nvSpPr>
          <p:cNvPr id="3" name="panel"/>
          <p:cNvSpPr/>
          <p:nvPr/>
        </p:nvSpPr>
        <p:spPr>
          <a:xfrm>
            <a:off x="457200" y="1188720"/>
            <a:ext cx="4023360" cy="3520440"/>
          </a:xfrm>
          <a:prstGeom prst="roundRect">
            <a:avLst>
              <a:gd name="adj" fmla="val 2078"/>
            </a:avLst>
          </a:prstGeom>
          <a:solidFill>
            <a:schemeClr val="bg2"/>
          </a:solidFill>
          <a:ln/>
        </p:spPr>
      </p:sp>
      <p:sp>
        <p:nvSpPr>
          <p:cNvPr id="4" name="Text 2"/>
          <p:cNvSpPr txBox="1"/>
          <p:nvPr/>
        </p:nvSpPr>
        <p:spPr>
          <a:xfrm>
            <a:off x="731520" y="1371600"/>
            <a:ext cx="3474720" cy="411480"/>
          </a:xfrm>
          <a:prstGeom prst="rect">
            <a:avLst/>
          </a:prstGeom>
          <a:noFill/>
          <a:ln/>
        </p:spPr>
        <p:txBody>
          <a:bodyPr wrap="square" lIns="0" tIns="0" rIns="0" bIns="0" rtlCol="0" anchor="t"/>
          <a:lstStyle/>
          <a:p>
            <a:pPr indent="0" marL="0">
              <a:buNone/>
            </a:pPr>
            <a:r>
              <a:rPr lang="en-US" sz="2000" b="1" dirty="0">
                <a:solidFill>
                  <a:schemeClr val="accent3"/>
                </a:solidFill>
              </a:rPr>
              <a:t>Limitations</a:t>
            </a:r>
            <a:endParaRPr lang="en-US" sz="2000" dirty="0"/>
          </a:p>
        </p:txBody>
      </p:sp>
      <p:sp>
        <p:nvSpPr>
          <p:cNvPr id="5" name="badge"/>
          <p:cNvSpPr/>
          <p:nvPr/>
        </p:nvSpPr>
        <p:spPr>
          <a:xfrm>
            <a:off x="731520" y="2020824"/>
            <a:ext cx="256032" cy="256032"/>
          </a:xfrm>
          <a:prstGeom prst="ellipse">
            <a:avLst/>
          </a:prstGeom>
          <a:solidFill>
            <a:schemeClr val="accent3"/>
          </a:solidFill>
          <a:ln/>
        </p:spPr>
      </p:sp>
      <p:pic>
        <p:nvPicPr>
          <p:cNvPr id="6" name="Image 0" descr="preencoded.png">    </p:cNvPr>
          <p:cNvPicPr>
            <a:picLocks noChangeAspect="1"/>
          </p:cNvPicPr>
          <p:nvPr/>
        </p:nvPicPr>
        <p:blipFill>
          <a:blip r:embed="rId1"/>
          <a:stretch>
            <a:fillRect/>
          </a:stretch>
        </p:blipFill>
        <p:spPr>
          <a:xfrm>
            <a:off x="795528" y="2084832"/>
            <a:ext cx="128016" cy="128016"/>
          </a:xfrm>
          <a:prstGeom prst="rect">
            <a:avLst/>
          </a:prstGeom>
        </p:spPr>
      </p:pic>
      <p:sp>
        <p:nvSpPr>
          <p:cNvPr id="7" name="Text 4"/>
          <p:cNvSpPr txBox="1"/>
          <p:nvPr/>
        </p:nvSpPr>
        <p:spPr>
          <a:xfrm>
            <a:off x="1143000" y="1965960"/>
            <a:ext cx="3108960" cy="457200"/>
          </a:xfrm>
          <a:prstGeom prst="rect">
            <a:avLst/>
          </a:prstGeom>
          <a:noFill/>
          <a:ln/>
        </p:spPr>
        <p:txBody>
          <a:bodyPr wrap="square" lIns="0" tIns="0" rIns="0" bIns="0" rtlCol="0" anchor="ctr"/>
          <a:lstStyle/>
          <a:p>
            <a:pPr indent="0" marL="0">
              <a:buNone/>
            </a:pPr>
            <a:r>
              <a:rPr lang="en-US" sz="1400" dirty="0">
                <a:solidFill>
                  <a:schemeClr val="tx1"/>
                </a:solidFill>
              </a:rPr>
              <a:t>Synthetic data and one fixed invoice layout</a:t>
            </a:r>
            <a:endParaRPr lang="en-US" sz="1400" dirty="0"/>
          </a:p>
        </p:txBody>
      </p:sp>
      <p:sp>
        <p:nvSpPr>
          <p:cNvPr id="8" name="badge"/>
          <p:cNvSpPr/>
          <p:nvPr/>
        </p:nvSpPr>
        <p:spPr>
          <a:xfrm>
            <a:off x="731520" y="2551176"/>
            <a:ext cx="256032" cy="256032"/>
          </a:xfrm>
          <a:prstGeom prst="ellipse">
            <a:avLst/>
          </a:prstGeom>
          <a:solidFill>
            <a:schemeClr val="accent3"/>
          </a:solidFill>
          <a:ln/>
        </p:spPr>
      </p:sp>
      <p:pic>
        <p:nvPicPr>
          <p:cNvPr id="9" name="Image 1" descr="preencoded.png">    </p:cNvPr>
          <p:cNvPicPr>
            <a:picLocks noChangeAspect="1"/>
          </p:cNvPicPr>
          <p:nvPr/>
        </p:nvPicPr>
        <p:blipFill>
          <a:blip r:embed="rId2"/>
          <a:stretch>
            <a:fillRect/>
          </a:stretch>
        </p:blipFill>
        <p:spPr>
          <a:xfrm>
            <a:off x="795528" y="2615184"/>
            <a:ext cx="128016" cy="128016"/>
          </a:xfrm>
          <a:prstGeom prst="rect">
            <a:avLst/>
          </a:prstGeom>
        </p:spPr>
      </p:pic>
      <p:sp>
        <p:nvSpPr>
          <p:cNvPr id="10" name="Text 6"/>
          <p:cNvSpPr txBox="1"/>
          <p:nvPr/>
        </p:nvSpPr>
        <p:spPr>
          <a:xfrm>
            <a:off x="1143000" y="2496312"/>
            <a:ext cx="3108960" cy="457200"/>
          </a:xfrm>
          <a:prstGeom prst="rect">
            <a:avLst/>
          </a:prstGeom>
          <a:noFill/>
          <a:ln/>
        </p:spPr>
        <p:txBody>
          <a:bodyPr wrap="square" lIns="0" tIns="0" rIns="0" bIns="0" rtlCol="0" anchor="ctr"/>
          <a:lstStyle/>
          <a:p>
            <a:pPr indent="0" marL="0">
              <a:buNone/>
            </a:pPr>
            <a:r>
              <a:rPr lang="en-US" sz="1400" dirty="0">
                <a:solidFill>
                  <a:schemeClr val="tx1"/>
                </a:solidFill>
              </a:rPr>
              <a:t>Rule-based matching scores optimistically</a:t>
            </a:r>
            <a:endParaRPr lang="en-US" sz="1400" dirty="0"/>
          </a:p>
        </p:txBody>
      </p:sp>
      <p:sp>
        <p:nvSpPr>
          <p:cNvPr id="11" name="badge"/>
          <p:cNvSpPr/>
          <p:nvPr/>
        </p:nvSpPr>
        <p:spPr>
          <a:xfrm>
            <a:off x="731520" y="3081528"/>
            <a:ext cx="256032" cy="256032"/>
          </a:xfrm>
          <a:prstGeom prst="ellipse">
            <a:avLst/>
          </a:prstGeom>
          <a:solidFill>
            <a:schemeClr val="accent3"/>
          </a:solidFill>
          <a:ln/>
        </p:spPr>
      </p:sp>
      <p:pic>
        <p:nvPicPr>
          <p:cNvPr id="12" name="Image 2" descr="preencoded.png">    </p:cNvPr>
          <p:cNvPicPr>
            <a:picLocks noChangeAspect="1"/>
          </p:cNvPicPr>
          <p:nvPr/>
        </p:nvPicPr>
        <p:blipFill>
          <a:blip r:embed="rId3"/>
          <a:stretch>
            <a:fillRect/>
          </a:stretch>
        </p:blipFill>
        <p:spPr>
          <a:xfrm>
            <a:off x="795528" y="3145536"/>
            <a:ext cx="128016" cy="128016"/>
          </a:xfrm>
          <a:prstGeom prst="rect">
            <a:avLst/>
          </a:prstGeom>
        </p:spPr>
      </p:pic>
      <p:sp>
        <p:nvSpPr>
          <p:cNvPr id="13" name="Text 8"/>
          <p:cNvSpPr txBox="1"/>
          <p:nvPr/>
        </p:nvSpPr>
        <p:spPr>
          <a:xfrm>
            <a:off x="1143000" y="3026664"/>
            <a:ext cx="3108960" cy="457200"/>
          </a:xfrm>
          <a:prstGeom prst="rect">
            <a:avLst/>
          </a:prstGeom>
          <a:noFill/>
          <a:ln/>
        </p:spPr>
        <p:txBody>
          <a:bodyPr wrap="square" lIns="0" tIns="0" rIns="0" bIns="0" rtlCol="0" anchor="ctr"/>
          <a:lstStyle/>
          <a:p>
            <a:pPr indent="0" marL="0">
              <a:buNone/>
            </a:pPr>
            <a:r>
              <a:rPr lang="en-US" sz="1400" dirty="0">
                <a:solidFill>
                  <a:schemeClr val="tx1"/>
                </a:solidFill>
              </a:rPr>
              <a:t>No OCR, ERP link or user login</a:t>
            </a:r>
            <a:endParaRPr lang="en-US" sz="1400" dirty="0"/>
          </a:p>
        </p:txBody>
      </p:sp>
      <p:sp>
        <p:nvSpPr>
          <p:cNvPr id="14" name="badge"/>
          <p:cNvSpPr/>
          <p:nvPr/>
        </p:nvSpPr>
        <p:spPr>
          <a:xfrm>
            <a:off x="731520" y="3611880"/>
            <a:ext cx="256032" cy="256032"/>
          </a:xfrm>
          <a:prstGeom prst="ellipse">
            <a:avLst/>
          </a:prstGeom>
          <a:solidFill>
            <a:schemeClr val="accent3"/>
          </a:solidFill>
          <a:ln/>
        </p:spPr>
      </p:sp>
      <p:pic>
        <p:nvPicPr>
          <p:cNvPr id="15" name="Image 3" descr="preencoded.png">    </p:cNvPr>
          <p:cNvPicPr>
            <a:picLocks noChangeAspect="1"/>
          </p:cNvPicPr>
          <p:nvPr/>
        </p:nvPicPr>
        <p:blipFill>
          <a:blip r:embed="rId4"/>
          <a:stretch>
            <a:fillRect/>
          </a:stretch>
        </p:blipFill>
        <p:spPr>
          <a:xfrm>
            <a:off x="795528" y="3675888"/>
            <a:ext cx="128016" cy="128016"/>
          </a:xfrm>
          <a:prstGeom prst="rect">
            <a:avLst/>
          </a:prstGeom>
        </p:spPr>
      </p:pic>
      <p:sp>
        <p:nvSpPr>
          <p:cNvPr id="16" name="Text 10"/>
          <p:cNvSpPr txBox="1"/>
          <p:nvPr/>
        </p:nvSpPr>
        <p:spPr>
          <a:xfrm>
            <a:off x="1143000" y="3557016"/>
            <a:ext cx="3108960" cy="457200"/>
          </a:xfrm>
          <a:prstGeom prst="rect">
            <a:avLst/>
          </a:prstGeom>
          <a:noFill/>
          <a:ln/>
        </p:spPr>
        <p:txBody>
          <a:bodyPr wrap="square" lIns="0" tIns="0" rIns="0" bIns="0" rtlCol="0" anchor="ctr"/>
          <a:lstStyle/>
          <a:p>
            <a:pPr indent="0" marL="0">
              <a:buNone/>
            </a:pPr>
            <a:r>
              <a:rPr lang="en-US" sz="1400" dirty="0">
                <a:solidFill>
                  <a:schemeClr val="tx1"/>
                </a:solidFill>
              </a:rPr>
              <a:t>Time savings are estimates, not measurements</a:t>
            </a:r>
            <a:endParaRPr lang="en-US" sz="1400" dirty="0"/>
          </a:p>
        </p:txBody>
      </p:sp>
      <p:sp>
        <p:nvSpPr>
          <p:cNvPr id="17" name="panel"/>
          <p:cNvSpPr/>
          <p:nvPr/>
        </p:nvSpPr>
        <p:spPr>
          <a:xfrm>
            <a:off x="4663440" y="1188720"/>
            <a:ext cx="4023360" cy="3520440"/>
          </a:xfrm>
          <a:prstGeom prst="roundRect">
            <a:avLst>
              <a:gd name="adj" fmla="val 2078"/>
            </a:avLst>
          </a:prstGeom>
          <a:solidFill>
            <a:schemeClr val="bg2"/>
          </a:solidFill>
          <a:ln/>
        </p:spPr>
      </p:sp>
      <p:sp>
        <p:nvSpPr>
          <p:cNvPr id="18" name="Text 12"/>
          <p:cNvSpPr txBox="1"/>
          <p:nvPr/>
        </p:nvSpPr>
        <p:spPr>
          <a:xfrm>
            <a:off x="4937760" y="1371600"/>
            <a:ext cx="3474720" cy="411480"/>
          </a:xfrm>
          <a:prstGeom prst="rect">
            <a:avLst/>
          </a:prstGeom>
          <a:noFill/>
          <a:ln/>
        </p:spPr>
        <p:txBody>
          <a:bodyPr wrap="square" lIns="0" tIns="0" rIns="0" bIns="0" rtlCol="0" anchor="t"/>
          <a:lstStyle/>
          <a:p>
            <a:pPr indent="0" marL="0">
              <a:buNone/>
            </a:pPr>
            <a:r>
              <a:rPr lang="en-US" sz="2000" b="1" dirty="0">
                <a:solidFill>
                  <a:schemeClr val="accent1"/>
                </a:solidFill>
              </a:rPr>
              <a:t>Future scope</a:t>
            </a:r>
            <a:endParaRPr lang="en-US" sz="2000" dirty="0"/>
          </a:p>
        </p:txBody>
      </p:sp>
      <p:sp>
        <p:nvSpPr>
          <p:cNvPr id="19" name="badge"/>
          <p:cNvSpPr/>
          <p:nvPr/>
        </p:nvSpPr>
        <p:spPr>
          <a:xfrm>
            <a:off x="4937760" y="2020824"/>
            <a:ext cx="256032" cy="256032"/>
          </a:xfrm>
          <a:prstGeom prst="ellipse">
            <a:avLst/>
          </a:prstGeom>
          <a:solidFill>
            <a:schemeClr val="accent1"/>
          </a:solidFill>
          <a:ln/>
        </p:spPr>
      </p:sp>
      <p:pic>
        <p:nvPicPr>
          <p:cNvPr id="20" name="Image 4" descr="preencoded.png">    </p:cNvPr>
          <p:cNvPicPr>
            <a:picLocks noChangeAspect="1"/>
          </p:cNvPicPr>
          <p:nvPr/>
        </p:nvPicPr>
        <p:blipFill>
          <a:blip r:embed="rId5"/>
          <a:stretch>
            <a:fillRect/>
          </a:stretch>
        </p:blipFill>
        <p:spPr>
          <a:xfrm>
            <a:off x="5001768" y="2084832"/>
            <a:ext cx="128016" cy="128016"/>
          </a:xfrm>
          <a:prstGeom prst="rect">
            <a:avLst/>
          </a:prstGeom>
        </p:spPr>
      </p:pic>
      <p:sp>
        <p:nvSpPr>
          <p:cNvPr id="21" name="Text 14"/>
          <p:cNvSpPr txBox="1"/>
          <p:nvPr/>
        </p:nvSpPr>
        <p:spPr>
          <a:xfrm>
            <a:off x="5349240" y="1965960"/>
            <a:ext cx="3108960" cy="457200"/>
          </a:xfrm>
          <a:prstGeom prst="rect">
            <a:avLst/>
          </a:prstGeom>
          <a:noFill/>
          <a:ln/>
        </p:spPr>
        <p:txBody>
          <a:bodyPr wrap="square" lIns="0" tIns="0" rIns="0" bIns="0" rtlCol="0" anchor="ctr"/>
          <a:lstStyle/>
          <a:p>
            <a:pPr indent="0" marL="0">
              <a:buNone/>
            </a:pPr>
            <a:r>
              <a:rPr lang="en-US" sz="1400" dirty="0">
                <a:solidFill>
                  <a:schemeClr val="tx1"/>
                </a:solidFill>
              </a:rPr>
              <a:t>OCR for scanned PDFs and photos</a:t>
            </a:r>
            <a:endParaRPr lang="en-US" sz="1400" dirty="0"/>
          </a:p>
        </p:txBody>
      </p:sp>
      <p:sp>
        <p:nvSpPr>
          <p:cNvPr id="22" name="badge"/>
          <p:cNvSpPr/>
          <p:nvPr/>
        </p:nvSpPr>
        <p:spPr>
          <a:xfrm>
            <a:off x="4937760" y="2551176"/>
            <a:ext cx="256032" cy="256032"/>
          </a:xfrm>
          <a:prstGeom prst="ellipse">
            <a:avLst/>
          </a:prstGeom>
          <a:solidFill>
            <a:schemeClr val="accent1"/>
          </a:solidFill>
          <a:ln/>
        </p:spPr>
      </p:sp>
      <p:pic>
        <p:nvPicPr>
          <p:cNvPr id="23" name="Image 5" descr="preencoded.png">    </p:cNvPr>
          <p:cNvPicPr>
            <a:picLocks noChangeAspect="1"/>
          </p:cNvPicPr>
          <p:nvPr/>
        </p:nvPicPr>
        <p:blipFill>
          <a:blip r:embed="rId6"/>
          <a:stretch>
            <a:fillRect/>
          </a:stretch>
        </p:blipFill>
        <p:spPr>
          <a:xfrm>
            <a:off x="5001768" y="2615184"/>
            <a:ext cx="128016" cy="128016"/>
          </a:xfrm>
          <a:prstGeom prst="rect">
            <a:avLst/>
          </a:prstGeom>
        </p:spPr>
      </p:pic>
      <p:sp>
        <p:nvSpPr>
          <p:cNvPr id="24" name="Text 16"/>
          <p:cNvSpPr txBox="1"/>
          <p:nvPr/>
        </p:nvSpPr>
        <p:spPr>
          <a:xfrm>
            <a:off x="5349240" y="2496312"/>
            <a:ext cx="3108960" cy="457200"/>
          </a:xfrm>
          <a:prstGeom prst="rect">
            <a:avLst/>
          </a:prstGeom>
          <a:noFill/>
          <a:ln/>
        </p:spPr>
        <p:txBody>
          <a:bodyPr wrap="square" lIns="0" tIns="0" rIns="0" bIns="0" rtlCol="0" anchor="ctr"/>
          <a:lstStyle/>
          <a:p>
            <a:pPr indent="0" marL="0">
              <a:buNone/>
            </a:pPr>
            <a:r>
              <a:rPr lang="en-US" sz="1400" dirty="0">
                <a:solidFill>
                  <a:schemeClr val="tx1"/>
                </a:solidFill>
              </a:rPr>
              <a:t>ERP connectors such as SAP and Tally</a:t>
            </a:r>
            <a:endParaRPr lang="en-US" sz="1400" dirty="0"/>
          </a:p>
        </p:txBody>
      </p:sp>
      <p:sp>
        <p:nvSpPr>
          <p:cNvPr id="25" name="badge"/>
          <p:cNvSpPr/>
          <p:nvPr/>
        </p:nvSpPr>
        <p:spPr>
          <a:xfrm>
            <a:off x="4937760" y="3081528"/>
            <a:ext cx="256032" cy="256032"/>
          </a:xfrm>
          <a:prstGeom prst="ellipse">
            <a:avLst/>
          </a:prstGeom>
          <a:solidFill>
            <a:schemeClr val="accent1"/>
          </a:solidFill>
          <a:ln/>
        </p:spPr>
      </p:sp>
      <p:pic>
        <p:nvPicPr>
          <p:cNvPr id="26" name="Image 6" descr="preencoded.png">    </p:cNvPr>
          <p:cNvPicPr>
            <a:picLocks noChangeAspect="1"/>
          </p:cNvPicPr>
          <p:nvPr/>
        </p:nvPicPr>
        <p:blipFill>
          <a:blip r:embed="rId7"/>
          <a:stretch>
            <a:fillRect/>
          </a:stretch>
        </p:blipFill>
        <p:spPr>
          <a:xfrm>
            <a:off x="5001768" y="3145536"/>
            <a:ext cx="128016" cy="128016"/>
          </a:xfrm>
          <a:prstGeom prst="rect">
            <a:avLst/>
          </a:prstGeom>
        </p:spPr>
      </p:pic>
      <p:sp>
        <p:nvSpPr>
          <p:cNvPr id="27" name="Text 18"/>
          <p:cNvSpPr txBox="1"/>
          <p:nvPr/>
        </p:nvSpPr>
        <p:spPr>
          <a:xfrm>
            <a:off x="5349240" y="3026664"/>
            <a:ext cx="3108960" cy="457200"/>
          </a:xfrm>
          <a:prstGeom prst="rect">
            <a:avLst/>
          </a:prstGeom>
          <a:noFill/>
          <a:ln/>
        </p:spPr>
        <p:txBody>
          <a:bodyPr wrap="square" lIns="0" tIns="0" rIns="0" bIns="0" rtlCol="0" anchor="ctr"/>
          <a:lstStyle/>
          <a:p>
            <a:pPr indent="0" marL="0">
              <a:buNone/>
            </a:pPr>
            <a:r>
              <a:rPr lang="en-US" sz="1400" dirty="0">
                <a:solidFill>
                  <a:schemeClr val="tx1"/>
                </a:solidFill>
              </a:rPr>
              <a:t>Benchmark LLM extraction against the parser</a:t>
            </a:r>
            <a:endParaRPr lang="en-US" sz="1400" dirty="0"/>
          </a:p>
        </p:txBody>
      </p:sp>
      <p:sp>
        <p:nvSpPr>
          <p:cNvPr id="28" name="badge"/>
          <p:cNvSpPr/>
          <p:nvPr/>
        </p:nvSpPr>
        <p:spPr>
          <a:xfrm>
            <a:off x="4937760" y="3611880"/>
            <a:ext cx="256032" cy="256032"/>
          </a:xfrm>
          <a:prstGeom prst="ellipse">
            <a:avLst/>
          </a:prstGeom>
          <a:solidFill>
            <a:schemeClr val="accent1"/>
          </a:solidFill>
          <a:ln/>
        </p:spPr>
      </p:sp>
      <p:pic>
        <p:nvPicPr>
          <p:cNvPr id="29" name="Image 7" descr="preencoded.png">    </p:cNvPr>
          <p:cNvPicPr>
            <a:picLocks noChangeAspect="1"/>
          </p:cNvPicPr>
          <p:nvPr/>
        </p:nvPicPr>
        <p:blipFill>
          <a:blip r:embed="rId8"/>
          <a:stretch>
            <a:fillRect/>
          </a:stretch>
        </p:blipFill>
        <p:spPr>
          <a:xfrm>
            <a:off x="5001768" y="3675888"/>
            <a:ext cx="128016" cy="128016"/>
          </a:xfrm>
          <a:prstGeom prst="rect">
            <a:avLst/>
          </a:prstGeom>
        </p:spPr>
      </p:pic>
      <p:sp>
        <p:nvSpPr>
          <p:cNvPr id="30" name="Text 20"/>
          <p:cNvSpPr txBox="1"/>
          <p:nvPr/>
        </p:nvSpPr>
        <p:spPr>
          <a:xfrm>
            <a:off x="5349240" y="3557016"/>
            <a:ext cx="3108960" cy="457200"/>
          </a:xfrm>
          <a:prstGeom prst="rect">
            <a:avLst/>
          </a:prstGeom>
          <a:noFill/>
          <a:ln/>
        </p:spPr>
        <p:txBody>
          <a:bodyPr wrap="square" lIns="0" tIns="0" rIns="0" bIns="0" rtlCol="0" anchor="ctr"/>
          <a:lstStyle/>
          <a:p>
            <a:pPr indent="0" marL="0">
              <a:buNone/>
            </a:pPr>
            <a:r>
              <a:rPr lang="en-US" sz="1400" dirty="0">
                <a:solidFill>
                  <a:schemeClr val="tx1"/>
                </a:solidFill>
              </a:rPr>
              <a:t>Vendor fraud pattern detection</a:t>
            </a:r>
            <a:endParaRPr lang="en-US" sz="1400" dirty="0"/>
          </a:p>
        </p:txBody>
      </p:sp>
      <p:sp>
        <p:nvSpPr>
          <p:cNvPr id="31" name="badge"/>
          <p:cNvSpPr/>
          <p:nvPr/>
        </p:nvSpPr>
        <p:spPr>
          <a:xfrm>
            <a:off x="4937760" y="4142232"/>
            <a:ext cx="256032" cy="256032"/>
          </a:xfrm>
          <a:prstGeom prst="ellipse">
            <a:avLst/>
          </a:prstGeom>
          <a:solidFill>
            <a:schemeClr val="accent1"/>
          </a:solidFill>
          <a:ln/>
        </p:spPr>
      </p:sp>
      <p:pic>
        <p:nvPicPr>
          <p:cNvPr id="32" name="Image 8" descr="preencoded.png">    </p:cNvPr>
          <p:cNvPicPr>
            <a:picLocks noChangeAspect="1"/>
          </p:cNvPicPr>
          <p:nvPr/>
        </p:nvPicPr>
        <p:blipFill>
          <a:blip r:embed="rId9"/>
          <a:stretch>
            <a:fillRect/>
          </a:stretch>
        </p:blipFill>
        <p:spPr>
          <a:xfrm>
            <a:off x="5001768" y="4206240"/>
            <a:ext cx="128016" cy="128016"/>
          </a:xfrm>
          <a:prstGeom prst="rect">
            <a:avLst/>
          </a:prstGeom>
        </p:spPr>
      </p:pic>
      <p:sp>
        <p:nvSpPr>
          <p:cNvPr id="33" name="Text 22"/>
          <p:cNvSpPr txBox="1"/>
          <p:nvPr/>
        </p:nvSpPr>
        <p:spPr>
          <a:xfrm>
            <a:off x="5349240" y="4087368"/>
            <a:ext cx="3108960" cy="457200"/>
          </a:xfrm>
          <a:prstGeom prst="rect">
            <a:avLst/>
          </a:prstGeom>
          <a:noFill/>
          <a:ln/>
        </p:spPr>
        <p:txBody>
          <a:bodyPr wrap="square" lIns="0" tIns="0" rIns="0" bIns="0" rtlCol="0" anchor="ctr"/>
          <a:lstStyle/>
          <a:p>
            <a:pPr indent="0" marL="0">
              <a:buNone/>
            </a:pPr>
            <a:r>
              <a:rPr lang="en-US" sz="1400" dirty="0">
                <a:solidFill>
                  <a:schemeClr val="tx1"/>
                </a:solidFill>
              </a:rPr>
              <a:t>Human approval screen and MCP tools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5120640" cy="1463040"/>
          </a:xfrm>
          <a:prstGeom prst="rect">
            <a:avLst/>
          </a:prstGeom>
          <a:noFill/>
          <a:ln/>
        </p:spPr>
        <p:txBody>
          <a:bodyPr wrap="square" lIns="0" tIns="0" rIns="0" bIns="0" rtlCol="0" anchor="t"/>
          <a:lstStyle/>
          <a:p>
            <a:pPr algn="l" indent="0" marL="0">
              <a:buNone/>
            </a:pPr>
            <a:r>
              <a:rPr lang="en-US" sz="3800" b="1" dirty="0">
                <a:solidFill>
                  <a:schemeClr val="bg1"/>
                </a:solidFill>
              </a:rPr>
              <a:t>Thank you</a:t>
            </a:r>
            <a:endParaRPr lang="en-US" sz="3800" dirty="0"/>
          </a:p>
        </p:txBody>
      </p:sp>
      <p:sp>
        <p:nvSpPr>
          <p:cNvPr id="3" name="Text 1"/>
          <p:cNvSpPr txBox="1"/>
          <p:nvPr/>
        </p:nvSpPr>
        <p:spPr>
          <a:xfrm>
            <a:off x="548640" y="1737360"/>
            <a:ext cx="4937760" cy="457200"/>
          </a:xfrm>
          <a:prstGeom prst="rect">
            <a:avLst/>
          </a:prstGeom>
          <a:noFill/>
          <a:ln/>
        </p:spPr>
        <p:txBody>
          <a:bodyPr wrap="square" lIns="0" tIns="0" rIns="0" bIns="0" rtlCol="0" anchor="t"/>
          <a:lstStyle/>
          <a:p>
            <a:pPr indent="0" marL="0">
              <a:buNone/>
            </a:pPr>
            <a:r>
              <a:rPr lang="en-US" sz="2200" dirty="0">
                <a:solidFill>
                  <a:schemeClr val="accent6"/>
                </a:solidFill>
              </a:rPr>
              <a:t>Questions?</a:t>
            </a:r>
            <a:endParaRPr lang="en-US" sz="2200" dirty="0"/>
          </a:p>
        </p:txBody>
      </p:sp>
      <p:sp>
        <p:nvSpPr>
          <p:cNvPr id="4" name="Text 2"/>
          <p:cNvSpPr txBox="1"/>
          <p:nvPr/>
        </p:nvSpPr>
        <p:spPr>
          <a:xfrm>
            <a:off x="548640" y="3566160"/>
            <a:ext cx="4937760" cy="365760"/>
          </a:xfrm>
          <a:prstGeom prst="rect">
            <a:avLst/>
          </a:prstGeom>
          <a:noFill/>
          <a:ln/>
        </p:spPr>
        <p:txBody>
          <a:bodyPr wrap="square" lIns="0" tIns="0" rIns="0" bIns="0" rtlCol="0" anchor="t"/>
          <a:lstStyle/>
          <a:p>
            <a:pPr indent="0" marL="0">
              <a:buNone/>
            </a:pPr>
            <a:r>
              <a:rPr lang="en-US" sz="1800" b="1" dirty="0">
                <a:solidFill>
                  <a:schemeClr val="bg1"/>
                </a:solidFill>
              </a:rPr>
              <a:t>Swastik Gavhane &amp; Saafalya Sengupta</a:t>
            </a:r>
            <a:endParaRPr lang="en-US" sz="2000" dirty="0"/>
          </a:p>
        </p:txBody>
      </p:sp>
      <p:sp>
        <p:nvSpPr>
          <p:cNvPr id="5" name="Text 3"/>
          <p:cNvSpPr txBox="1"/>
          <p:nvPr/>
        </p:nvSpPr>
        <p:spPr>
          <a:xfrm>
            <a:off x="548640" y="3931920"/>
            <a:ext cx="4937760" cy="274320"/>
          </a:xfrm>
          <a:prstGeom prst="rect">
            <a:avLst/>
          </a:prstGeom>
          <a:noFill/>
          <a:ln/>
        </p:spPr>
        <p:txBody>
          <a:bodyPr wrap="square" lIns="0" tIns="0" rIns="0" bIns="0" rtlCol="0" anchor="t"/>
          <a:lstStyle/>
          <a:p>
            <a:pPr indent="0" marL="0">
              <a:buNone/>
            </a:pPr>
            <a:r>
              <a:rPr lang="en-US" sz="1400" dirty="0">
                <a:solidFill>
                  <a:schemeClr val="bg1"/>
                </a:solidFill>
              </a:rPr>
              <a:t>PRN 24070126224 · 24070126158</a:t>
            </a:r>
            <a:endParaRPr lang="en-US" sz="1400" dirty="0"/>
          </a:p>
        </p:txBody>
      </p:sp>
      <p:sp>
        <p:nvSpPr>
          <p:cNvPr id="6" name="Text 4"/>
          <p:cNvSpPr txBox="1"/>
          <p:nvPr/>
        </p:nvSpPr>
        <p:spPr>
          <a:xfrm>
            <a:off x="548640" y="4224528"/>
            <a:ext cx="4937760" cy="274320"/>
          </a:xfrm>
          <a:prstGeom prst="rect">
            <a:avLst/>
          </a:prstGeom>
          <a:noFill/>
          <a:ln/>
        </p:spPr>
        <p:txBody>
          <a:bodyPr wrap="square" lIns="0" tIns="0" rIns="0" bIns="0" rtlCol="0" anchor="t"/>
          <a:lstStyle/>
          <a:p>
            <a:pPr indent="0" marL="0">
              <a:buNone/>
            </a:pPr>
            <a:r>
              <a:rPr lang="en-US" sz="1400" dirty="0">
                <a:solidFill>
                  <a:schemeClr val="accent6"/>
                </a:solidFill>
              </a:rPr>
              <a:t>Symbiosis Institute of Technology</a:t>
            </a:r>
            <a:endParaRPr lang="en-US" sz="1400" dirty="0"/>
          </a:p>
        </p:txBody>
      </p:sp>
      <p:sp>
        <p:nvSpPr>
          <p:cNvPr id="7" name="closing motif"/>
          <p:cNvSpPr/>
          <p:nvPr/>
        </p:nvSpPr>
        <p:spPr>
          <a:xfrm>
            <a:off x="6309360" y="1097280"/>
            <a:ext cx="2194560" cy="2194560"/>
          </a:xfrm>
          <a:prstGeom prst="ellipse">
            <a:avLst/>
          </a:prstGeom>
          <a:solidFill>
            <a:schemeClr val="accent1"/>
          </a:solidFill>
          <a:ln/>
        </p:spPr>
      </p:sp>
      <p:sp>
        <p:nvSpPr>
          <p:cNvPr id="8" name="closing motif inner"/>
          <p:cNvSpPr/>
          <p:nvPr/>
        </p:nvSpPr>
        <p:spPr>
          <a:xfrm>
            <a:off x="6766560" y="1554480"/>
            <a:ext cx="1280160" cy="1280160"/>
          </a:xfrm>
          <a:prstGeom prst="ellipse">
            <a:avLst/>
          </a:prstGeom>
          <a:solidFill>
            <a:schemeClr val="accent2"/>
          </a:solidFill>
          <a:ln/>
        </p:spPr>
      </p:sp>
      <p:pic>
        <p:nvPicPr>
          <p:cNvPr id="9" name="Image 0" descr="check mark">    </p:cNvPr>
          <p:cNvPicPr>
            <a:picLocks noChangeAspect="1"/>
          </p:cNvPicPr>
          <p:nvPr/>
        </p:nvPicPr>
        <p:blipFill>
          <a:blip r:embed="rId1"/>
          <a:stretch>
            <a:fillRect/>
          </a:stretch>
        </p:blipFill>
        <p:spPr>
          <a:xfrm>
            <a:off x="7178040" y="1965960"/>
            <a:ext cx="457200" cy="457200"/>
          </a:xfrm>
          <a:prstGeom prst="rect">
            <a:avLst/>
          </a:prstGeom>
        </p:spPr>
      </p:pic>
    </p:spTree>
  </p:cSld>
  <p:clrMapOvr>
    <a:masterClrMapping/>
  </p:clrMapOvr>
</p:sld>
</file>

<file path=ppt/theme/theme1.xml><?xml version="1.0" encoding="utf-8"?>
<a:theme xmlns:a="http://schemas.openxmlformats.org/drawingml/2006/main" name="Ledger Green">
  <a:themeElements>
    <a:clrScheme name="Ledger Green">
      <a:dk1>
        <a:srgbClr val="1B2420"/>
      </a:dk1>
      <a:lt1>
        <a:srgbClr val="FFFFFF"/>
      </a:lt1>
      <a:dk2>
        <a:srgbClr val="0B3D2E"/>
      </a:dk2>
      <a:lt2>
        <a:srgbClr val="E8F1EC"/>
      </a:lt2>
      <a:accent1>
        <a:srgbClr val="0F6B4F"/>
      </a:accent1>
      <a:accent2>
        <a:srgbClr val="F2A900"/>
      </a:accent2>
      <a:accent3>
        <a:srgbClr val="D64545"/>
      </a:accent3>
      <a:accent4>
        <a:srgbClr val="2E7D9A"/>
      </a:accent4>
      <a:accent5>
        <a:srgbClr val="55635C"/>
      </a:accent5>
      <a:accent6>
        <a:srgbClr val="8BBF9F"/>
      </a:accent6>
      <a:hlink>
        <a:srgbClr val="2E7D9A"/>
      </a:hlink>
      <a:folHlink>
        <a:srgbClr val="55635C"/>
      </a:folHlink>
    </a:clrScheme>
    <a:fontScheme name="Ledger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Accounts Payable: Invoice Three-Way Match</dc:title>
  <dc:subject>PptxGenJS Presentation</dc:subject>
  <dc:creator>Swastik Gavhane, Saafalya Sengupta</dc:creator>
  <cp:lastModifiedBy>Swastik Gavhane</cp:lastModifiedBy>
  <cp:revision>1</cp:revision>
  <dcterms:created xsi:type="dcterms:W3CDTF">2026-10-19T18:17:14Z</dcterms:created>
  <dcterms:modified xsi:type="dcterms:W3CDTF">2026-10-19T18:17:14Z</dcterms:modified>
</cp:coreProperties>
</file>